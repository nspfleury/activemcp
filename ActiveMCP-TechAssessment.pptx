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6"/>
    <p:sldMasterId id="2147483715" r:id="rId7"/>
    <p:sldMasterId id="2147483648" r:id="rId8"/>
    <p:sldMasterId id="2147483705" r:id="rId9"/>
    <p:sldMasterId id="2147483677" r:id="rId10"/>
    <p:sldMasterId id="2147483712" r:id="rId11"/>
  </p:sldMasterIdLst>
  <p:notesMasterIdLst>
    <p:notesMasterId r:id="rId41"/>
  </p:notesMasterIdLst>
  <p:handoutMasterIdLst>
    <p:handoutMasterId r:id="rId42"/>
  </p:handoutMasterIdLst>
  <p:sldIdLst>
    <p:sldId id="339" r:id="rId12"/>
    <p:sldId id="343" r:id="rId13"/>
    <p:sldId id="304" r:id="rId14"/>
    <p:sldId id="2147483644" r:id="rId15"/>
    <p:sldId id="382" r:id="rId16"/>
    <p:sldId id="381" r:id="rId17"/>
    <p:sldId id="383" r:id="rId18"/>
    <p:sldId id="380" r:id="rId19"/>
    <p:sldId id="385" r:id="rId20"/>
    <p:sldId id="389" r:id="rId21"/>
    <p:sldId id="376" r:id="rId22"/>
    <p:sldId id="2147483639" r:id="rId23"/>
    <p:sldId id="390" r:id="rId24"/>
    <p:sldId id="2147483638" r:id="rId25"/>
    <p:sldId id="2147483645" r:id="rId26"/>
    <p:sldId id="2147483646" r:id="rId27"/>
    <p:sldId id="377" r:id="rId28"/>
    <p:sldId id="386" r:id="rId29"/>
    <p:sldId id="2147483643" r:id="rId30"/>
    <p:sldId id="378" r:id="rId31"/>
    <p:sldId id="387" r:id="rId32"/>
    <p:sldId id="392" r:id="rId33"/>
    <p:sldId id="2147483640" r:id="rId34"/>
    <p:sldId id="2147483641" r:id="rId35"/>
    <p:sldId id="2147483642" r:id="rId36"/>
    <p:sldId id="379" r:id="rId37"/>
    <p:sldId id="388" r:id="rId38"/>
    <p:sldId id="375" r:id="rId39"/>
    <p:sldId id="214748364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C067E147-92A3-4025-A692-50947FB67A62}">
          <p14:sldIdLst>
            <p14:sldId id="339"/>
          </p14:sldIdLst>
        </p14:section>
        <p14:section name="Content" id="{EA5EB87C-BF09-4E71-8317-503F941D8D52}">
          <p14:sldIdLst>
            <p14:sldId id="343"/>
          </p14:sldIdLst>
        </p14:section>
        <p14:section name="Approach &amp; Background" id="{EF3E5BFA-849D-47F8-A340-3D8B5AC91385}">
          <p14:sldIdLst>
            <p14:sldId id="304"/>
            <p14:sldId id="2147483644"/>
            <p14:sldId id="382"/>
          </p14:sldIdLst>
        </p14:section>
        <p14:section name="Objective 1" id="{4E40D4F8-E6F6-4CDD-A906-157E21DD6905}">
          <p14:sldIdLst>
            <p14:sldId id="381"/>
            <p14:sldId id="383"/>
          </p14:sldIdLst>
        </p14:section>
        <p14:section name="Objective 2" id="{F7AEF91A-2C8E-489A-8EF3-25287C8D6E59}">
          <p14:sldIdLst>
            <p14:sldId id="380"/>
            <p14:sldId id="385"/>
            <p14:sldId id="389"/>
          </p14:sldIdLst>
        </p14:section>
        <p14:section name="Objective 3" id="{F8ED9279-4147-4DFF-BC55-4631E6204A25}">
          <p14:sldIdLst>
            <p14:sldId id="376"/>
            <p14:sldId id="2147483639"/>
            <p14:sldId id="390"/>
            <p14:sldId id="2147483638"/>
            <p14:sldId id="2147483645"/>
            <p14:sldId id="2147483646"/>
          </p14:sldIdLst>
        </p14:section>
        <p14:section name="Objective 4" id="{FBC97AF9-C0C8-40C7-9E7F-E51FD02A1A91}">
          <p14:sldIdLst>
            <p14:sldId id="377"/>
            <p14:sldId id="386"/>
            <p14:sldId id="2147483643"/>
          </p14:sldIdLst>
        </p14:section>
        <p14:section name="Objective 5" id="{72B1D5C3-5ECC-45DD-A0DC-B3294C3C489D}">
          <p14:sldIdLst>
            <p14:sldId id="378"/>
            <p14:sldId id="387"/>
            <p14:sldId id="392"/>
            <p14:sldId id="2147483640"/>
            <p14:sldId id="2147483641"/>
            <p14:sldId id="2147483642"/>
          </p14:sldIdLst>
        </p14:section>
        <p14:section name="Objective 6" id="{CC9FB8C1-AFB2-42E9-B66A-517B94F4598C}">
          <p14:sldIdLst>
            <p14:sldId id="379"/>
            <p14:sldId id="388"/>
            <p14:sldId id="375"/>
            <p14:sldId id="2147483647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E605F5-24A2-6B8F-229D-2A3E07457F47}" name="Avitabile, Amy      RTX" initials="AAR" userId="S::E21161113@adxuser.com::50035740-67fe-4f30-8d66-cf523957c7d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Avitabile" initials="AA" lastIdx="1" clrIdx="0">
    <p:extLst>
      <p:ext uri="{19B8F6BF-5375-455C-9EA6-DF929625EA0E}">
        <p15:presenceInfo xmlns:p15="http://schemas.microsoft.com/office/powerpoint/2012/main" userId="S-1-5-21-1214440339-861567501-682003330-1365948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E51"/>
    <a:srgbClr val="EFB661"/>
    <a:srgbClr val="9ABEAA"/>
    <a:srgbClr val="E6E6E6"/>
    <a:srgbClr val="908CC2"/>
    <a:srgbClr val="D9D9D6"/>
    <a:srgbClr val="B1B3B3"/>
    <a:srgbClr val="DFE0E0"/>
    <a:srgbClr val="F2F2F2"/>
    <a:srgbClr val="BFC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E34F2-DAA0-41F5-9377-4E5D380A531E}" v="235" dt="2026-02-27T17:51:39.157"/>
  </p1510:revLst>
</p1510:revInfo>
</file>

<file path=ppt/tableStyles.xml><?xml version="1.0" encoding="utf-8"?>
<a:tblStyleLst xmlns:a="http://schemas.openxmlformats.org/drawingml/2006/main" def="{3B4B98B0-60AC-42C2-AFA5-B58CD77FA1E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5" autoAdjust="0"/>
    <p:restoredTop sz="96283" autoAdjust="0"/>
  </p:normalViewPr>
  <p:slideViewPr>
    <p:cSldViewPr snapToGrid="0">
      <p:cViewPr varScale="1">
        <p:scale>
          <a:sx n="98" d="100"/>
          <a:sy n="98" d="100"/>
        </p:scale>
        <p:origin x="1122" y="31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333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6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microsoft.com/office/2018/10/relationships/authors" Target="authors.xml"/><Relationship Id="rId10" Type="http://schemas.openxmlformats.org/officeDocument/2006/relationships/slideMaster" Target="slideMasters/slideMaster5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commentAuthors" Target="commentAuthors.xml"/><Relationship Id="rId48" Type="http://schemas.microsoft.com/office/2015/10/relationships/revisionInfo" Target="revisionInfo.xml"/><Relationship Id="rId8" Type="http://schemas.openxmlformats.org/officeDocument/2006/relationships/slideMaster" Target="slideMasters/slideMaster3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theme" Target="theme/theme1.xml"/><Relationship Id="rId20" Type="http://schemas.openxmlformats.org/officeDocument/2006/relationships/slide" Target="slides/slide9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68D482-2EAB-41D8-BC3D-ED943B7DA10E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D6FA59D7-CF52-4041-ACA3-0F1709B15D9B}">
      <dgm:prSet phldrT="[Text]"/>
      <dgm:spPr>
        <a:solidFill>
          <a:schemeClr val="accent2"/>
        </a:solidFill>
      </dgm:spPr>
      <dgm:t>
        <a:bodyPr/>
        <a:lstStyle/>
        <a:p>
          <a:endParaRPr lang="en-US"/>
        </a:p>
      </dgm:t>
    </dgm:pt>
    <dgm:pt modelId="{176BFC28-5D5D-43D7-A8AD-E416A8F7EC5A}" type="parTrans" cxnId="{F5331F78-C97A-4D2F-A461-E2D8387A1F83}">
      <dgm:prSet/>
      <dgm:spPr/>
      <dgm:t>
        <a:bodyPr/>
        <a:lstStyle/>
        <a:p>
          <a:endParaRPr lang="en-US"/>
        </a:p>
      </dgm:t>
    </dgm:pt>
    <dgm:pt modelId="{544E7A0C-DE31-4D7A-ACC4-5AA5452CDD02}" type="sibTrans" cxnId="{F5331F78-C97A-4D2F-A461-E2D8387A1F83}">
      <dgm:prSet/>
      <dgm:spPr>
        <a:solidFill>
          <a:srgbClr val="021E51"/>
        </a:solidFill>
      </dgm:spPr>
      <dgm:t>
        <a:bodyPr/>
        <a:lstStyle/>
        <a:p>
          <a:endParaRPr lang="en-US"/>
        </a:p>
      </dgm:t>
    </dgm:pt>
    <dgm:pt modelId="{9FB5B573-D84B-4476-BA8E-6E67552BFD73}">
      <dgm:prSet phldrT="[Text]"/>
      <dgm:spPr>
        <a:solidFill>
          <a:schemeClr val="accent2"/>
        </a:solidFill>
      </dgm:spPr>
      <dgm:t>
        <a:bodyPr/>
        <a:lstStyle/>
        <a:p>
          <a:endParaRPr lang="en-US"/>
        </a:p>
      </dgm:t>
    </dgm:pt>
    <dgm:pt modelId="{C8181C4C-5BC1-4328-A511-20456E6A580A}" type="parTrans" cxnId="{4D59B99D-8068-4E33-A3C3-E41E3369A2BD}">
      <dgm:prSet/>
      <dgm:spPr/>
      <dgm:t>
        <a:bodyPr/>
        <a:lstStyle/>
        <a:p>
          <a:endParaRPr lang="en-US"/>
        </a:p>
      </dgm:t>
    </dgm:pt>
    <dgm:pt modelId="{A6AD4969-8174-4616-B7BF-60D7054E287C}" type="sibTrans" cxnId="{4D59B99D-8068-4E33-A3C3-E41E3369A2BD}">
      <dgm:prSet/>
      <dgm:spPr>
        <a:solidFill>
          <a:srgbClr val="021E51"/>
        </a:solidFill>
      </dgm:spPr>
      <dgm:t>
        <a:bodyPr/>
        <a:lstStyle/>
        <a:p>
          <a:endParaRPr lang="en-US"/>
        </a:p>
      </dgm:t>
    </dgm:pt>
    <dgm:pt modelId="{83DAACC8-CD82-48D1-8BEA-8A59848AB265}">
      <dgm:prSet phldrT="[Text]"/>
      <dgm:spPr>
        <a:solidFill>
          <a:schemeClr val="accent2"/>
        </a:solidFill>
      </dgm:spPr>
      <dgm:t>
        <a:bodyPr/>
        <a:lstStyle/>
        <a:p>
          <a:endParaRPr lang="en-US"/>
        </a:p>
      </dgm:t>
    </dgm:pt>
    <dgm:pt modelId="{5683786F-A6FF-4B4C-83E7-3907A5EF1B7D}" type="sibTrans" cxnId="{065BB72A-004F-4399-97C7-30B91950F893}">
      <dgm:prSet/>
      <dgm:spPr>
        <a:solidFill>
          <a:srgbClr val="021E51"/>
        </a:solidFill>
      </dgm:spPr>
      <dgm:t>
        <a:bodyPr/>
        <a:lstStyle/>
        <a:p>
          <a:endParaRPr lang="en-US"/>
        </a:p>
      </dgm:t>
    </dgm:pt>
    <dgm:pt modelId="{EE3EF563-0789-482F-B70E-5D3CC9E64D69}" type="parTrans" cxnId="{065BB72A-004F-4399-97C7-30B91950F893}">
      <dgm:prSet/>
      <dgm:spPr/>
      <dgm:t>
        <a:bodyPr/>
        <a:lstStyle/>
        <a:p>
          <a:endParaRPr lang="en-US"/>
        </a:p>
      </dgm:t>
    </dgm:pt>
    <dgm:pt modelId="{804D33A5-418D-4CE1-880A-43F0EA5C278F}" type="pres">
      <dgm:prSet presAssocID="{2D68D482-2EAB-41D8-BC3D-ED943B7DA10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EED324A5-59F8-4E9D-B143-9951A8F704CA}" type="pres">
      <dgm:prSet presAssocID="{83DAACC8-CD82-48D1-8BEA-8A59848AB265}" presName="gear1" presStyleLbl="node1" presStyleIdx="0" presStyleCnt="3">
        <dgm:presLayoutVars>
          <dgm:chMax val="1"/>
          <dgm:bulletEnabled val="1"/>
        </dgm:presLayoutVars>
      </dgm:prSet>
      <dgm:spPr/>
    </dgm:pt>
    <dgm:pt modelId="{5E373A06-098C-467C-9A9B-CAA4ACE60D4F}" type="pres">
      <dgm:prSet presAssocID="{83DAACC8-CD82-48D1-8BEA-8A59848AB265}" presName="gear1srcNode" presStyleLbl="node1" presStyleIdx="0" presStyleCnt="3"/>
      <dgm:spPr/>
    </dgm:pt>
    <dgm:pt modelId="{C970E06D-C1FB-470A-93A5-6C19439170FA}" type="pres">
      <dgm:prSet presAssocID="{83DAACC8-CD82-48D1-8BEA-8A59848AB265}" presName="gear1dstNode" presStyleLbl="node1" presStyleIdx="0" presStyleCnt="3"/>
      <dgm:spPr/>
    </dgm:pt>
    <dgm:pt modelId="{F31BA9E4-D416-405E-A4A7-B26BB8062694}" type="pres">
      <dgm:prSet presAssocID="{D6FA59D7-CF52-4041-ACA3-0F1709B15D9B}" presName="gear2" presStyleLbl="node1" presStyleIdx="1" presStyleCnt="3">
        <dgm:presLayoutVars>
          <dgm:chMax val="1"/>
          <dgm:bulletEnabled val="1"/>
        </dgm:presLayoutVars>
      </dgm:prSet>
      <dgm:spPr/>
    </dgm:pt>
    <dgm:pt modelId="{5BA08EFB-18F5-46EA-BD51-23BF2F2D29DE}" type="pres">
      <dgm:prSet presAssocID="{D6FA59D7-CF52-4041-ACA3-0F1709B15D9B}" presName="gear2srcNode" presStyleLbl="node1" presStyleIdx="1" presStyleCnt="3"/>
      <dgm:spPr/>
    </dgm:pt>
    <dgm:pt modelId="{AC93C9AD-62B1-4E66-9E1D-EC9015CB8058}" type="pres">
      <dgm:prSet presAssocID="{D6FA59D7-CF52-4041-ACA3-0F1709B15D9B}" presName="gear2dstNode" presStyleLbl="node1" presStyleIdx="1" presStyleCnt="3"/>
      <dgm:spPr/>
    </dgm:pt>
    <dgm:pt modelId="{7212AAE0-F048-4545-B8C6-4A44007B4BDE}" type="pres">
      <dgm:prSet presAssocID="{9FB5B573-D84B-4476-BA8E-6E67552BFD73}" presName="gear3" presStyleLbl="node1" presStyleIdx="2" presStyleCnt="3"/>
      <dgm:spPr/>
    </dgm:pt>
    <dgm:pt modelId="{6F146B3F-C2E8-412A-8919-8FF12BB7950F}" type="pres">
      <dgm:prSet presAssocID="{9FB5B573-D84B-4476-BA8E-6E67552BFD73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5359261-6214-46F4-A8B6-E97AE7CB3D5C}" type="pres">
      <dgm:prSet presAssocID="{9FB5B573-D84B-4476-BA8E-6E67552BFD73}" presName="gear3srcNode" presStyleLbl="node1" presStyleIdx="2" presStyleCnt="3"/>
      <dgm:spPr/>
    </dgm:pt>
    <dgm:pt modelId="{E37479AE-C64D-48FB-AE5D-F2B1DB17A713}" type="pres">
      <dgm:prSet presAssocID="{9FB5B573-D84B-4476-BA8E-6E67552BFD73}" presName="gear3dstNode" presStyleLbl="node1" presStyleIdx="2" presStyleCnt="3"/>
      <dgm:spPr/>
    </dgm:pt>
    <dgm:pt modelId="{9A615F0B-29BC-44D0-A370-344A8BB66EC3}" type="pres">
      <dgm:prSet presAssocID="{5683786F-A6FF-4B4C-83E7-3907A5EF1B7D}" presName="connector1" presStyleLbl="sibTrans2D1" presStyleIdx="0" presStyleCnt="3"/>
      <dgm:spPr/>
    </dgm:pt>
    <dgm:pt modelId="{67C15107-5E47-451D-A753-DABCC0880A58}" type="pres">
      <dgm:prSet presAssocID="{544E7A0C-DE31-4D7A-ACC4-5AA5452CDD02}" presName="connector2" presStyleLbl="sibTrans2D1" presStyleIdx="1" presStyleCnt="3"/>
      <dgm:spPr/>
    </dgm:pt>
    <dgm:pt modelId="{B6A21033-3115-4979-A4BA-F099E49231FD}" type="pres">
      <dgm:prSet presAssocID="{A6AD4969-8174-4616-B7BF-60D7054E287C}" presName="connector3" presStyleLbl="sibTrans2D1" presStyleIdx="2" presStyleCnt="3"/>
      <dgm:spPr/>
    </dgm:pt>
  </dgm:ptLst>
  <dgm:cxnLst>
    <dgm:cxn modelId="{FB39FB09-ADA4-4FBF-A694-639450B2A2C5}" type="presOf" srcId="{A6AD4969-8174-4616-B7BF-60D7054E287C}" destId="{B6A21033-3115-4979-A4BA-F099E49231FD}" srcOrd="0" destOrd="0" presId="urn:microsoft.com/office/officeart/2005/8/layout/gear1"/>
    <dgm:cxn modelId="{77CBAF12-5FA2-42A9-A91D-DD5BF89CE16B}" type="presOf" srcId="{D6FA59D7-CF52-4041-ACA3-0F1709B15D9B}" destId="{F31BA9E4-D416-405E-A4A7-B26BB8062694}" srcOrd="0" destOrd="0" presId="urn:microsoft.com/office/officeart/2005/8/layout/gear1"/>
    <dgm:cxn modelId="{88986125-CDA3-486F-B716-F68079F8023D}" type="presOf" srcId="{D6FA59D7-CF52-4041-ACA3-0F1709B15D9B}" destId="{AC93C9AD-62B1-4E66-9E1D-EC9015CB8058}" srcOrd="2" destOrd="0" presId="urn:microsoft.com/office/officeart/2005/8/layout/gear1"/>
    <dgm:cxn modelId="{065BB72A-004F-4399-97C7-30B91950F893}" srcId="{2D68D482-2EAB-41D8-BC3D-ED943B7DA10E}" destId="{83DAACC8-CD82-48D1-8BEA-8A59848AB265}" srcOrd="0" destOrd="0" parTransId="{EE3EF563-0789-482F-B70E-5D3CC9E64D69}" sibTransId="{5683786F-A6FF-4B4C-83E7-3907A5EF1B7D}"/>
    <dgm:cxn modelId="{6ECD9333-3F6F-4B41-A050-F270D9CFBB25}" type="presOf" srcId="{9FB5B573-D84B-4476-BA8E-6E67552BFD73}" destId="{6F146B3F-C2E8-412A-8919-8FF12BB7950F}" srcOrd="1" destOrd="0" presId="urn:microsoft.com/office/officeart/2005/8/layout/gear1"/>
    <dgm:cxn modelId="{6613F544-89E5-432A-BDA7-04D42AE32F12}" type="presOf" srcId="{83DAACC8-CD82-48D1-8BEA-8A59848AB265}" destId="{EED324A5-59F8-4E9D-B143-9951A8F704CA}" srcOrd="0" destOrd="0" presId="urn:microsoft.com/office/officeart/2005/8/layout/gear1"/>
    <dgm:cxn modelId="{68646F73-C2FC-4593-9C65-8D213CCB224E}" type="presOf" srcId="{2D68D482-2EAB-41D8-BC3D-ED943B7DA10E}" destId="{804D33A5-418D-4CE1-880A-43F0EA5C278F}" srcOrd="0" destOrd="0" presId="urn:microsoft.com/office/officeart/2005/8/layout/gear1"/>
    <dgm:cxn modelId="{F5331F78-C97A-4D2F-A461-E2D8387A1F83}" srcId="{2D68D482-2EAB-41D8-BC3D-ED943B7DA10E}" destId="{D6FA59D7-CF52-4041-ACA3-0F1709B15D9B}" srcOrd="1" destOrd="0" parTransId="{176BFC28-5D5D-43D7-A8AD-E416A8F7EC5A}" sibTransId="{544E7A0C-DE31-4D7A-ACC4-5AA5452CDD02}"/>
    <dgm:cxn modelId="{8BB04E5A-BA7C-4284-8233-292C1D6A1D12}" type="presOf" srcId="{544E7A0C-DE31-4D7A-ACC4-5AA5452CDD02}" destId="{67C15107-5E47-451D-A753-DABCC0880A58}" srcOrd="0" destOrd="0" presId="urn:microsoft.com/office/officeart/2005/8/layout/gear1"/>
    <dgm:cxn modelId="{5DFD557B-36F4-4163-A0B5-F08E1F1C674C}" type="presOf" srcId="{5683786F-A6FF-4B4C-83E7-3907A5EF1B7D}" destId="{9A615F0B-29BC-44D0-A370-344A8BB66EC3}" srcOrd="0" destOrd="0" presId="urn:microsoft.com/office/officeart/2005/8/layout/gear1"/>
    <dgm:cxn modelId="{03AFFE8C-6CFF-402E-8AC4-302933E6830F}" type="presOf" srcId="{83DAACC8-CD82-48D1-8BEA-8A59848AB265}" destId="{5E373A06-098C-467C-9A9B-CAA4ACE60D4F}" srcOrd="1" destOrd="0" presId="urn:microsoft.com/office/officeart/2005/8/layout/gear1"/>
    <dgm:cxn modelId="{E84D179B-9ABC-499D-8814-474422464CD4}" type="presOf" srcId="{9FB5B573-D84B-4476-BA8E-6E67552BFD73}" destId="{E37479AE-C64D-48FB-AE5D-F2B1DB17A713}" srcOrd="3" destOrd="0" presId="urn:microsoft.com/office/officeart/2005/8/layout/gear1"/>
    <dgm:cxn modelId="{4D59B99D-8068-4E33-A3C3-E41E3369A2BD}" srcId="{2D68D482-2EAB-41D8-BC3D-ED943B7DA10E}" destId="{9FB5B573-D84B-4476-BA8E-6E67552BFD73}" srcOrd="2" destOrd="0" parTransId="{C8181C4C-5BC1-4328-A511-20456E6A580A}" sibTransId="{A6AD4969-8174-4616-B7BF-60D7054E287C}"/>
    <dgm:cxn modelId="{A33B4AA4-8F0F-4139-95B5-2E84AE4F7B7C}" type="presOf" srcId="{83DAACC8-CD82-48D1-8BEA-8A59848AB265}" destId="{C970E06D-C1FB-470A-93A5-6C19439170FA}" srcOrd="2" destOrd="0" presId="urn:microsoft.com/office/officeart/2005/8/layout/gear1"/>
    <dgm:cxn modelId="{F60143BE-42C3-45C3-B210-ECF01ED85346}" type="presOf" srcId="{9FB5B573-D84B-4476-BA8E-6E67552BFD73}" destId="{7212AAE0-F048-4545-B8C6-4A44007B4BDE}" srcOrd="0" destOrd="0" presId="urn:microsoft.com/office/officeart/2005/8/layout/gear1"/>
    <dgm:cxn modelId="{058374CF-B6E2-431F-BF7E-9818C7D946DA}" type="presOf" srcId="{D6FA59D7-CF52-4041-ACA3-0F1709B15D9B}" destId="{5BA08EFB-18F5-46EA-BD51-23BF2F2D29DE}" srcOrd="1" destOrd="0" presId="urn:microsoft.com/office/officeart/2005/8/layout/gear1"/>
    <dgm:cxn modelId="{50C0D7FF-78FD-4A5B-B83C-6BF972A45314}" type="presOf" srcId="{9FB5B573-D84B-4476-BA8E-6E67552BFD73}" destId="{A5359261-6214-46F4-A8B6-E97AE7CB3D5C}" srcOrd="2" destOrd="0" presId="urn:microsoft.com/office/officeart/2005/8/layout/gear1"/>
    <dgm:cxn modelId="{802F3B0C-A7B9-473C-94BA-C62535F2D3CA}" type="presParOf" srcId="{804D33A5-418D-4CE1-880A-43F0EA5C278F}" destId="{EED324A5-59F8-4E9D-B143-9951A8F704CA}" srcOrd="0" destOrd="0" presId="urn:microsoft.com/office/officeart/2005/8/layout/gear1"/>
    <dgm:cxn modelId="{FB384A7B-2702-4B11-9FAC-D37F54C76AB4}" type="presParOf" srcId="{804D33A5-418D-4CE1-880A-43F0EA5C278F}" destId="{5E373A06-098C-467C-9A9B-CAA4ACE60D4F}" srcOrd="1" destOrd="0" presId="urn:microsoft.com/office/officeart/2005/8/layout/gear1"/>
    <dgm:cxn modelId="{038605FA-6915-4FE8-B39E-0AD3B4DF4F75}" type="presParOf" srcId="{804D33A5-418D-4CE1-880A-43F0EA5C278F}" destId="{C970E06D-C1FB-470A-93A5-6C19439170FA}" srcOrd="2" destOrd="0" presId="urn:microsoft.com/office/officeart/2005/8/layout/gear1"/>
    <dgm:cxn modelId="{C96E80CC-6CDF-4BC4-856B-B04B2AE879D4}" type="presParOf" srcId="{804D33A5-418D-4CE1-880A-43F0EA5C278F}" destId="{F31BA9E4-D416-405E-A4A7-B26BB8062694}" srcOrd="3" destOrd="0" presId="urn:microsoft.com/office/officeart/2005/8/layout/gear1"/>
    <dgm:cxn modelId="{60A9348A-EF27-4A34-8680-F950583E5AEF}" type="presParOf" srcId="{804D33A5-418D-4CE1-880A-43F0EA5C278F}" destId="{5BA08EFB-18F5-46EA-BD51-23BF2F2D29DE}" srcOrd="4" destOrd="0" presId="urn:microsoft.com/office/officeart/2005/8/layout/gear1"/>
    <dgm:cxn modelId="{0816F7B4-31DC-4A20-8E38-35FEA4ABE8FC}" type="presParOf" srcId="{804D33A5-418D-4CE1-880A-43F0EA5C278F}" destId="{AC93C9AD-62B1-4E66-9E1D-EC9015CB8058}" srcOrd="5" destOrd="0" presId="urn:microsoft.com/office/officeart/2005/8/layout/gear1"/>
    <dgm:cxn modelId="{60213C61-BD98-403D-99B9-E264F1938AE4}" type="presParOf" srcId="{804D33A5-418D-4CE1-880A-43F0EA5C278F}" destId="{7212AAE0-F048-4545-B8C6-4A44007B4BDE}" srcOrd="6" destOrd="0" presId="urn:microsoft.com/office/officeart/2005/8/layout/gear1"/>
    <dgm:cxn modelId="{002B1DF4-D01F-43F6-AE2D-5715E2CDBF49}" type="presParOf" srcId="{804D33A5-418D-4CE1-880A-43F0EA5C278F}" destId="{6F146B3F-C2E8-412A-8919-8FF12BB7950F}" srcOrd="7" destOrd="0" presId="urn:microsoft.com/office/officeart/2005/8/layout/gear1"/>
    <dgm:cxn modelId="{222598F5-FD24-4C9F-9159-F7346A54F3D6}" type="presParOf" srcId="{804D33A5-418D-4CE1-880A-43F0EA5C278F}" destId="{A5359261-6214-46F4-A8B6-E97AE7CB3D5C}" srcOrd="8" destOrd="0" presId="urn:microsoft.com/office/officeart/2005/8/layout/gear1"/>
    <dgm:cxn modelId="{6653D487-D9B1-461C-9C8C-5C93C6DA7C95}" type="presParOf" srcId="{804D33A5-418D-4CE1-880A-43F0EA5C278F}" destId="{E37479AE-C64D-48FB-AE5D-F2B1DB17A713}" srcOrd="9" destOrd="0" presId="urn:microsoft.com/office/officeart/2005/8/layout/gear1"/>
    <dgm:cxn modelId="{424C4489-34AB-41F1-86B4-07BDF6958A25}" type="presParOf" srcId="{804D33A5-418D-4CE1-880A-43F0EA5C278F}" destId="{9A615F0B-29BC-44D0-A370-344A8BB66EC3}" srcOrd="10" destOrd="0" presId="urn:microsoft.com/office/officeart/2005/8/layout/gear1"/>
    <dgm:cxn modelId="{E93751AF-DEFB-452B-A5FD-C246C5192F97}" type="presParOf" srcId="{804D33A5-418D-4CE1-880A-43F0EA5C278F}" destId="{67C15107-5E47-451D-A753-DABCC0880A58}" srcOrd="11" destOrd="0" presId="urn:microsoft.com/office/officeart/2005/8/layout/gear1"/>
    <dgm:cxn modelId="{75A70E94-1AB4-4194-91F0-8D588628D4C8}" type="presParOf" srcId="{804D33A5-418D-4CE1-880A-43F0EA5C278F}" destId="{B6A21033-3115-4979-A4BA-F099E49231F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324A5-59F8-4E9D-B143-9951A8F704CA}">
      <dsp:nvSpPr>
        <dsp:cNvPr id="0" name=""/>
        <dsp:cNvSpPr/>
      </dsp:nvSpPr>
      <dsp:spPr>
        <a:xfrm>
          <a:off x="2678894" y="1659381"/>
          <a:ext cx="2028133" cy="2028133"/>
        </a:xfrm>
        <a:prstGeom prst="gear9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3086639" y="2134461"/>
        <a:ext cx="1212643" cy="1042503"/>
      </dsp:txXfrm>
    </dsp:sp>
    <dsp:sp modelId="{F31BA9E4-D416-405E-A4A7-B26BB8062694}">
      <dsp:nvSpPr>
        <dsp:cNvPr id="0" name=""/>
        <dsp:cNvSpPr/>
      </dsp:nvSpPr>
      <dsp:spPr>
        <a:xfrm>
          <a:off x="1498889" y="1180004"/>
          <a:ext cx="1475006" cy="1475006"/>
        </a:xfrm>
        <a:prstGeom prst="gear6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600" kern="1200"/>
        </a:p>
      </dsp:txBody>
      <dsp:txXfrm>
        <a:off x="1870226" y="1553586"/>
        <a:ext cx="732332" cy="727842"/>
      </dsp:txXfrm>
    </dsp:sp>
    <dsp:sp modelId="{7212AAE0-F048-4545-B8C6-4A44007B4BDE}">
      <dsp:nvSpPr>
        <dsp:cNvPr id="0" name=""/>
        <dsp:cNvSpPr/>
      </dsp:nvSpPr>
      <dsp:spPr>
        <a:xfrm rot="20700000">
          <a:off x="2325043" y="162401"/>
          <a:ext cx="1445204" cy="1445204"/>
        </a:xfrm>
        <a:prstGeom prst="gear6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100" kern="1200"/>
        </a:p>
      </dsp:txBody>
      <dsp:txXfrm rot="-20700000">
        <a:off x="2642019" y="479376"/>
        <a:ext cx="811253" cy="811253"/>
      </dsp:txXfrm>
    </dsp:sp>
    <dsp:sp modelId="{9A615F0B-29BC-44D0-A370-344A8BB66EC3}">
      <dsp:nvSpPr>
        <dsp:cNvPr id="0" name=""/>
        <dsp:cNvSpPr/>
      </dsp:nvSpPr>
      <dsp:spPr>
        <a:xfrm>
          <a:off x="2517462" y="1356445"/>
          <a:ext cx="2596010" cy="2596010"/>
        </a:xfrm>
        <a:prstGeom prst="circularArrow">
          <a:avLst>
            <a:gd name="adj1" fmla="val 4687"/>
            <a:gd name="adj2" fmla="val 299029"/>
            <a:gd name="adj3" fmla="val 2502871"/>
            <a:gd name="adj4" fmla="val 15890220"/>
            <a:gd name="adj5" fmla="val 5469"/>
          </a:avLst>
        </a:prstGeom>
        <a:solidFill>
          <a:srgbClr val="021E5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15107-5E47-451D-A753-DABCC0880A58}">
      <dsp:nvSpPr>
        <dsp:cNvPr id="0" name=""/>
        <dsp:cNvSpPr/>
      </dsp:nvSpPr>
      <dsp:spPr>
        <a:xfrm>
          <a:off x="1237669" y="855816"/>
          <a:ext cx="1886163" cy="188616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021E5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21033-3115-4979-A4BA-F099E49231FD}">
      <dsp:nvSpPr>
        <dsp:cNvPr id="0" name=""/>
        <dsp:cNvSpPr/>
      </dsp:nvSpPr>
      <dsp:spPr>
        <a:xfrm>
          <a:off x="1990753" y="-151978"/>
          <a:ext cx="2033664" cy="203366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021E5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3"/>
          </p:nvPr>
        </p:nvSpPr>
        <p:spPr>
          <a:xfrm>
            <a:off x="3886200" y="0"/>
            <a:ext cx="2514600" cy="4587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38C58B0-FFE9-437E-B2CB-216DAFA8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6732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2" pos="288" userDrawn="1">
          <p15:clr>
            <a:srgbClr val="F26B43"/>
          </p15:clr>
        </p15:guide>
        <p15:guide id="3" pos="40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2624" y="692622"/>
            <a:ext cx="5517676" cy="310369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012556"/>
            <a:ext cx="5524500" cy="40942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5"/>
          </p:nvPr>
        </p:nvSpPr>
        <p:spPr>
          <a:xfrm>
            <a:off x="3886200" y="9183"/>
            <a:ext cx="2324100" cy="4587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56AF3A09-0EB5-429E-B7D0-FB28A772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1913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5888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87338" indent="-117475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57200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27063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0425" indent="-17145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32" userDrawn="1">
          <p15:clr>
            <a:srgbClr val="F26B43"/>
          </p15:clr>
        </p15:guide>
        <p15:guide id="2" pos="391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74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7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06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E217-F376-B420-122B-53BD120D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CAE58-DB44-367B-2E46-7682943E1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A8DF-4ED4-66C5-96B4-079D3279E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480DD-878F-71D5-7DBF-D77088A3A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390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7063-09B0-4BBD-695A-D187BD11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DCFEB-EB7C-5B10-0F5B-A4447B9A6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FD7D0-102F-C6C5-4F21-F84CFC05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FFF58-758D-312D-4C51-D2E365449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51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AA90-E08A-CEC9-4716-1386D9F3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058B1-3F5D-1245-8BBA-A03FED939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89078-D466-571D-3A6D-01FE5D788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B8672-94D9-1ADE-3BEF-F823DE5A6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71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47D8-5300-E6B0-9FF7-6720B0B4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B9AD2-767E-83F1-0248-43FCBF065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9CD71-0952-1EEE-F89B-BBF0F2F7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D745C-14D3-117C-7816-DDEB53E50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36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0998-6104-AC67-C83E-6E534B02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E24FA-67E1-1212-7A7F-CF8676B30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DF182-F924-2761-8BED-9C339D223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43C60-009C-8521-2989-775C5B3051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34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CE9E6-1B96-60DB-FE7A-DF795E9F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32B49-112E-4C24-BFF3-AC8ACD3AA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EC04E-329D-7DEE-6DCF-1448A9B1C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262F1-5896-F869-1B78-84A440331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466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7537-6293-0EC4-1869-D7FABA30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301C3-6CAD-A9B7-EED7-B8AC2B2AC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663D0-3A1A-9EE2-7CFB-CFA8AEE8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BB0EA-5698-72C3-C0A3-FBEEFF54E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938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B98B-2619-988E-F2F7-0D30AB5D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AB1B6-6D3D-E491-3354-089EE2AB3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48943-2A22-F648-7932-70757DD29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7A725-AFC2-B347-DF2E-B71E174E46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26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82388-B8C4-464E-6CB1-0E449C6C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C5E61-C3BC-3545-BA13-ED157B80E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3C652-3121-B953-D6EF-90465FFC4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36E17-2C5B-6B14-25B7-DCBD31BFA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762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865C-DD3F-9581-201C-01450527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CB885-2292-E77F-A3E4-2F502EA29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74CF1-ADD6-8619-493F-BC72A3B50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AD2BB-5D34-186B-4118-AA676EBA0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2269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C796-F3B5-0AFF-2428-9E6C3FCA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F2412-9341-1143-F552-008BB4DF0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B5CE2-EC17-F21C-E8FB-07FC00746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79A4B-7D08-FE45-9867-D48A3BA15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3386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71AD5-AC2B-E51D-4898-7F2907C8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8A1C4-042C-B97C-4FD8-4FB4ED9BD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EE1A3-9F39-8751-ABE4-7748038D0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88D05-94CD-6F7B-7294-66E9A4F55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957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72B4-CEA2-E336-E20A-1A56CFAD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735FF-A200-440B-F2BC-89A22FE60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2D7E9-9048-488A-73D8-7AF4AC168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88FAD-0B8B-EFBC-15A2-0DB645B86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464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13D54-496E-C05E-0286-548677BB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1AE04-C9C1-A0EB-0B19-8F971EAA3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FD5C1-891A-5E8B-EF8A-CB937DD76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D1FDC-A6EF-AE1B-11E8-7CFD9A246C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0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3EC6-5AEA-6FA0-9AA8-8B32DC3F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63B9C-5A51-57D9-D16B-1DCBFEBC0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93BBC-E1D2-71E0-EC6F-7E9ED1D6A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06F4D-CBAA-2961-2D36-33B7B1C8D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2824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E785A-A6CC-D3B4-BDAF-F07CF4F7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10A9D-F57F-A263-0E05-4D0B9AEFF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3D30E-F400-579A-6E94-EDCDEFF79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D06B3-D5C7-BE4E-234B-FB9C9573A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314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82BBF-0FAE-FF89-AA6D-8987CFD9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178B0-A25F-1528-AB9C-D0BCA6BF9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5F84F-3DDF-F963-3F76-18123736A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F4D0C-6BF1-5DF5-3A0E-C13AEA086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682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C9EA-077B-417F-B280-E08D5B2E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6BAFF-6491-EC51-BBED-519AF3BEC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71401-18CF-1180-3C02-9EE20EE16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0C1F8-D4B2-3E88-2E69-C4BB891D4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738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BE44-8842-0165-6169-B6C5ED09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D894B-CA9D-7545-5E56-C4A2CFE64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FEAAB-2652-345C-DF35-AE7355131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1F1AD-A6A2-ECE1-F51A-32330C360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195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011F-0336-64BC-5C43-07D620D7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7AF3A-A178-EBA8-5CC6-87AD48DE4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A8717-589F-17E3-81B8-80DC1A1D7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F206C-BDC4-0E12-53AB-F0F2F0A430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886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0131-39D4-B28C-FB3E-41186B0A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68935-DD2A-F597-9567-CB9E94261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B47CF-06B9-94A2-2516-F9792F1F9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FC5CF-2013-1E3E-A110-EC1161BFD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AF3A09-0EB5-429E-B7D0-FB28A7726D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2821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3984-2937-DD6F-A6EC-10FB6F5D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D0D17-39ED-80ED-980B-CB689A5D3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FAC4E-D080-E8A4-4A19-41C0AB089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3FC15-1E71-EEAF-5877-C9E4C5569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64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38CF6-DA0B-8B9D-CC8A-E6F34018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AEEC4-E963-9722-E914-6F67CE346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2150" y="692150"/>
            <a:ext cx="5518150" cy="3103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AC8DF-2CE6-B4BC-B529-88728534E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45DDD-86BE-0E97-BFF7-99BA83452C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F3A09-0EB5-429E-B7D0-FB28A7726D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49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84750835-1226-CAC9-B6EC-27DA83C898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6868" y="2276402"/>
            <a:ext cx="4818546" cy="18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3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6248400" y="4978631"/>
            <a:ext cx="1866900" cy="193899"/>
          </a:xfrm>
          <a:noFill/>
        </p:spPr>
        <p:txBody>
          <a:bodyPr>
            <a:spAutoFit/>
          </a:bodyPr>
          <a:lstStyle>
            <a:lvl1pPr>
              <a:defRPr sz="1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Presenters"/>
          <p:cNvSpPr>
            <a:spLocks noGrp="1"/>
          </p:cNvSpPr>
          <p:nvPr>
            <p:ph type="body" sz="quarter" idx="13" hasCustomPrompt="1"/>
          </p:nvPr>
        </p:nvSpPr>
        <p:spPr>
          <a:xfrm>
            <a:off x="6248400" y="3944669"/>
            <a:ext cx="5266943" cy="249299"/>
          </a:xfrm>
          <a:noFill/>
        </p:spPr>
        <p:txBody>
          <a:bodyPr vert="horz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18 pt. black.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248400" y="2264747"/>
            <a:ext cx="5257800" cy="914096"/>
          </a:xfrm>
          <a:noFill/>
        </p:spPr>
        <p:txBody>
          <a:bodyPr anchor="t" anchorCtr="0">
            <a:spAutoFit/>
          </a:bodyPr>
          <a:lstStyle>
            <a:lvl1pPr defTabSz="914400">
              <a:spcBef>
                <a:spcPct val="0"/>
              </a:spcBef>
              <a:defRPr sz="33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/>
              <a:t>Title 33 pt. black. Bold. Sentence case.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EE82325-A2C7-C851-E2C4-BCA15F6413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944" y="2074428"/>
            <a:ext cx="3419856" cy="13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4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Imag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6185449" y="6022194"/>
            <a:ext cx="1668227" cy="166199"/>
          </a:xfrm>
          <a:noFill/>
        </p:spPr>
        <p:txBody>
          <a:bodyPr wrap="square"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Presenters"/>
          <p:cNvSpPr>
            <a:spLocks noGrp="1"/>
          </p:cNvSpPr>
          <p:nvPr>
            <p:ph type="body" sz="quarter" idx="13" hasCustomPrompt="1"/>
          </p:nvPr>
        </p:nvSpPr>
        <p:spPr>
          <a:xfrm>
            <a:off x="6204030" y="5447669"/>
            <a:ext cx="5197031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16 pt. black.</a:t>
            </a:r>
          </a:p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16 pt. black.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204030" y="4649765"/>
            <a:ext cx="5197032" cy="692497"/>
          </a:xfrm>
          <a:noFill/>
        </p:spPr>
        <p:txBody>
          <a:bodyPr wrap="square" anchor="b" anchorCtr="0">
            <a:spAutoFit/>
          </a:bodyPr>
          <a:lstStyle>
            <a:lvl1pPr defTabSz="914400">
              <a:spcBef>
                <a:spcPct val="0"/>
              </a:spcBef>
              <a:defRPr sz="25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 dirty="0"/>
              <a:t>Title 25 pt. black. Bold. Sentence case. Bold. Sentence case.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A81B1-7479-7714-254E-346D03D74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3232" y="4548887"/>
            <a:ext cx="4657664" cy="13408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1A2033B-B04A-6926-32D9-55E58102BFF2}"/>
              </a:ext>
            </a:extLst>
          </p:cNvPr>
          <p:cNvGrpSpPr/>
          <p:nvPr userDrawn="1"/>
        </p:nvGrpSpPr>
        <p:grpSpPr>
          <a:xfrm>
            <a:off x="0" y="0"/>
            <a:ext cx="12192000" cy="4000501"/>
            <a:chOff x="0" y="0"/>
            <a:chExt cx="12192000" cy="4000501"/>
          </a:xfrm>
        </p:grpSpPr>
        <p:pic>
          <p:nvPicPr>
            <p:cNvPr id="5" name="Picture 4" descr="A picture containing sky, outdoor&#10;&#10;Description automatically generated">
              <a:extLst>
                <a:ext uri="{FF2B5EF4-FFF2-40B4-BE49-F238E27FC236}">
                  <a16:creationId xmlns:a16="http://schemas.microsoft.com/office/drawing/2014/main" id="{47270D78-0B73-A8F3-109B-288EAA57B8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82800" y="663"/>
              <a:ext cx="4026401" cy="399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01FA5C1-7B5B-D341-C843-BC576ED904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25" r="25"/>
            <a:stretch/>
          </p:blipFill>
          <p:spPr>
            <a:xfrm>
              <a:off x="0" y="0"/>
              <a:ext cx="4026400" cy="3999837"/>
            </a:xfrm>
            <a:prstGeom prst="rect">
              <a:avLst/>
            </a:prstGeom>
          </p:spPr>
        </p:pic>
        <p:pic>
          <p:nvPicPr>
            <p:cNvPr id="9" name="Picture 2" descr="Thermal-management-aircraft">
              <a:extLst>
                <a:ext uri="{FF2B5EF4-FFF2-40B4-BE49-F238E27FC236}">
                  <a16:creationId xmlns:a16="http://schemas.microsoft.com/office/drawing/2014/main" id="{9B0E59A2-60B8-B7B7-5839-11038233EE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36" b="5934"/>
            <a:stretch/>
          </p:blipFill>
          <p:spPr bwMode="auto">
            <a:xfrm>
              <a:off x="8165601" y="663"/>
              <a:ext cx="4026399" cy="3999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1345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6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225" y="5280870"/>
            <a:ext cx="3365292" cy="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72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934" b="11624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225" y="5280870"/>
            <a:ext cx="3365292" cy="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69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779" b="13779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225" y="5280870"/>
            <a:ext cx="3365292" cy="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7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1191" b="16367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225" y="5280870"/>
            <a:ext cx="3365292" cy="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0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2495" b="15063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225" y="5280870"/>
            <a:ext cx="3365292" cy="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58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767" b="18791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4225" y="5280870"/>
            <a:ext cx="3365292" cy="9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09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TX CS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2F6804-7622-50E0-E17D-272FFB51D85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4968875"/>
          </a:xfrm>
          <a:solidFill>
            <a:schemeClr val="accent1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4800" y="6032700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4800" y="5410507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DC9AC35-F76E-90C7-56F4-788FA01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776" y="5319879"/>
            <a:ext cx="1661395" cy="63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0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84750835-1226-CAC9-B6EC-27DA83C898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96868" y="2276402"/>
            <a:ext cx="4818546" cy="18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66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6248400" y="4978631"/>
            <a:ext cx="1866900" cy="193899"/>
          </a:xfrm>
          <a:noFill/>
        </p:spPr>
        <p:txBody>
          <a:bodyPr>
            <a:spAutoFit/>
          </a:bodyPr>
          <a:lstStyle>
            <a:lvl1pPr>
              <a:defRPr sz="1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Presenters"/>
          <p:cNvSpPr>
            <a:spLocks noGrp="1"/>
          </p:cNvSpPr>
          <p:nvPr>
            <p:ph type="body" sz="quarter" idx="13" hasCustomPrompt="1"/>
          </p:nvPr>
        </p:nvSpPr>
        <p:spPr>
          <a:xfrm>
            <a:off x="6248400" y="3944669"/>
            <a:ext cx="5266943" cy="249299"/>
          </a:xfrm>
          <a:noFill/>
        </p:spPr>
        <p:txBody>
          <a:bodyPr vert="horz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18 pt. black.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248400" y="2264747"/>
            <a:ext cx="5257800" cy="914096"/>
          </a:xfrm>
          <a:noFill/>
        </p:spPr>
        <p:txBody>
          <a:bodyPr anchor="t" anchorCtr="0">
            <a:spAutoFit/>
          </a:bodyPr>
          <a:lstStyle>
            <a:lvl1pPr defTabSz="914400">
              <a:spcBef>
                <a:spcPct val="0"/>
              </a:spcBef>
              <a:defRPr sz="33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/>
              <a:t>Title 33 pt. black. Bold. Sentence case.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EE82325-A2C7-C851-E2C4-BCA15F6413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944" y="2074428"/>
            <a:ext cx="3419856" cy="13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72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Imag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6185449" y="6022194"/>
            <a:ext cx="1668227" cy="166199"/>
          </a:xfrm>
          <a:noFill/>
        </p:spPr>
        <p:txBody>
          <a:bodyPr wrap="square"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Presenters"/>
          <p:cNvSpPr>
            <a:spLocks noGrp="1"/>
          </p:cNvSpPr>
          <p:nvPr>
            <p:ph type="body" sz="quarter" idx="13" hasCustomPrompt="1"/>
          </p:nvPr>
        </p:nvSpPr>
        <p:spPr>
          <a:xfrm>
            <a:off x="6204030" y="5447669"/>
            <a:ext cx="5197031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16 pt. black.</a:t>
            </a:r>
          </a:p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Title, Function. 16 pt. black.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204030" y="4649765"/>
            <a:ext cx="5197032" cy="692497"/>
          </a:xfrm>
          <a:noFill/>
        </p:spPr>
        <p:txBody>
          <a:bodyPr wrap="square" anchor="b" anchorCtr="0">
            <a:spAutoFit/>
          </a:bodyPr>
          <a:lstStyle>
            <a:lvl1pPr defTabSz="914400">
              <a:spcBef>
                <a:spcPct val="0"/>
              </a:spcBef>
              <a:defRPr sz="2500">
                <a:solidFill>
                  <a:schemeClr val="tx1"/>
                </a:solidFill>
              </a:defRPr>
            </a:lvl1pPr>
          </a:lstStyle>
          <a:p>
            <a:pPr lvl="0" defTabSz="914400">
              <a:spcBef>
                <a:spcPct val="0"/>
              </a:spcBef>
            </a:pPr>
            <a:r>
              <a:rPr lang="en-US" dirty="0"/>
              <a:t>Title 25 pt. black. Bold. Sentence case. Bold. Sentence case.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05AA81B1-7479-7714-254E-346D03D74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232" y="4547715"/>
            <a:ext cx="4657664" cy="134315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1A2033B-B04A-6926-32D9-55E58102BFF2}"/>
              </a:ext>
            </a:extLst>
          </p:cNvPr>
          <p:cNvGrpSpPr/>
          <p:nvPr userDrawn="1"/>
        </p:nvGrpSpPr>
        <p:grpSpPr>
          <a:xfrm>
            <a:off x="0" y="0"/>
            <a:ext cx="12192000" cy="4000501"/>
            <a:chOff x="0" y="0"/>
            <a:chExt cx="12192000" cy="4000501"/>
          </a:xfrm>
        </p:grpSpPr>
        <p:pic>
          <p:nvPicPr>
            <p:cNvPr id="5" name="Picture 4" descr="A picture containing sky, outdoor&#10;&#10;Description automatically generated">
              <a:extLst>
                <a:ext uri="{FF2B5EF4-FFF2-40B4-BE49-F238E27FC236}">
                  <a16:creationId xmlns:a16="http://schemas.microsoft.com/office/drawing/2014/main" id="{47270D78-0B73-A8F3-109B-288EAA57B8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82800" y="663"/>
              <a:ext cx="4026401" cy="399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01FA5C1-7B5B-D341-C843-BC576ED904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25" r="25"/>
            <a:stretch/>
          </p:blipFill>
          <p:spPr>
            <a:xfrm>
              <a:off x="0" y="0"/>
              <a:ext cx="4026400" cy="3999837"/>
            </a:xfrm>
            <a:prstGeom prst="rect">
              <a:avLst/>
            </a:prstGeom>
          </p:spPr>
        </p:pic>
        <p:pic>
          <p:nvPicPr>
            <p:cNvPr id="9" name="Picture 2" descr="Thermal-management-aircraft">
              <a:extLst>
                <a:ext uri="{FF2B5EF4-FFF2-40B4-BE49-F238E27FC236}">
                  <a16:creationId xmlns:a16="http://schemas.microsoft.com/office/drawing/2014/main" id="{9B0E59A2-60B8-B7B7-5839-11038233EE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36" b="5934"/>
            <a:stretch/>
          </p:blipFill>
          <p:spPr bwMode="auto">
            <a:xfrm>
              <a:off x="8165601" y="663"/>
              <a:ext cx="4026399" cy="3999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5671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mo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6E24B-68F1-82CB-29C1-EB08DE7550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6"/>
          <a:stretch/>
        </p:blipFill>
        <p:spPr>
          <a:xfrm>
            <a:off x="-1" y="0"/>
            <a:ext cx="12191999" cy="4968088"/>
          </a:xfrm>
          <a:prstGeom prst="rect">
            <a:avLst/>
          </a:prstGeom>
          <a:ln>
            <a:noFill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6115" y="6090574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6115" y="5468381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C7B615CD-007F-EA33-A32C-D3874FFEF7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4225" y="5280023"/>
            <a:ext cx="3365292" cy="97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58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TX CS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2F6804-7622-50E0-E17D-272FFB51D85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4968875"/>
          </a:xfrm>
          <a:solidFill>
            <a:schemeClr val="accent1"/>
          </a:solidFill>
        </p:spPr>
        <p:txBody>
          <a:bodyPr anchor="ctr"/>
          <a:lstStyle>
            <a:lvl1pPr algn="ctr">
              <a:defRPr b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60A336-5AA6-E438-7401-5DD262AE8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2974061"/>
            <a:ext cx="7162800" cy="1329595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48 pt. white. Bold. Sentence case.</a:t>
            </a:r>
          </a:p>
        </p:txBody>
      </p:sp>
      <p:sp>
        <p:nvSpPr>
          <p:cNvPr id="6" name="Presenters">
            <a:extLst>
              <a:ext uri="{FF2B5EF4-FFF2-40B4-BE49-F238E27FC236}">
                <a16:creationId xmlns:a16="http://schemas.microsoft.com/office/drawing/2014/main" id="{C5DE7E96-B510-A634-133B-11FCBB2C91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776" y="4492807"/>
            <a:ext cx="5257799" cy="307829"/>
          </a:xfrm>
          <a:noFill/>
        </p:spPr>
        <p:txBody>
          <a:bodyPr vert="horz" lIns="0" tIns="0" rIns="0" bIns="0" rtlCol="0">
            <a:noAutofit/>
          </a:bodyPr>
          <a:lstStyle>
            <a:lvl1pPr marL="0" marR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white. Sentence case.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B58BFE7C-D752-FE5A-5F65-483EC83FEB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4800" y="6032700"/>
            <a:ext cx="1866900" cy="166199"/>
          </a:xfrm>
          <a:noFill/>
        </p:spPr>
        <p:txBody>
          <a:bodyPr>
            <a:spAutoFit/>
          </a:bodyPr>
          <a:lstStyle>
            <a:lvl1pPr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9" name="Presenters">
            <a:extLst>
              <a:ext uri="{FF2B5EF4-FFF2-40B4-BE49-F238E27FC236}">
                <a16:creationId xmlns:a16="http://schemas.microsoft.com/office/drawing/2014/main" id="{7B42B0BC-BD4F-6368-6F29-30E915528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4800" y="5410507"/>
            <a:ext cx="5257799" cy="443198"/>
          </a:xfrm>
          <a:noFill/>
        </p:spPr>
        <p:txBody>
          <a:bodyPr vert="horz" wrap="square" lIns="0" tIns="0" rIns="0" bIns="0" rtlCol="0">
            <a:spAutoFit/>
          </a:bodyPr>
          <a:lstStyle>
            <a:lvl1pPr>
              <a:defRPr lang="en-US" sz="1600" baseline="0" dirty="0"/>
            </a:lvl1pPr>
          </a:lstStyle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  <a:p>
            <a:pPr marR="0" lvl="0" fontAlgn="auto">
              <a:spcAft>
                <a:spcPts val="0"/>
              </a:spcAft>
              <a:buClrTx/>
              <a:tabLst/>
            </a:pPr>
            <a:r>
              <a:rPr lang="en-US"/>
              <a:t>Name, Title, Function. 16 pt. black.</a:t>
            </a:r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DC9AC35-F76E-90C7-56F4-788FA01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776" y="5319879"/>
            <a:ext cx="1661395" cy="63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36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ance: RTX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3E520A4-FAAE-1C23-A63D-FAE04B206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14E4D-FFCC-16F0-1F0B-8A1621EFC611}"/>
              </a:ext>
            </a:extLst>
          </p:cNvPr>
          <p:cNvSpPr txBox="1"/>
          <p:nvPr userDrawn="1"/>
        </p:nvSpPr>
        <p:spPr>
          <a:xfrm>
            <a:off x="662940" y="468598"/>
            <a:ext cx="10896600" cy="4862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RTX color palette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41BBA-C64A-D926-1311-F092A2C6AC0E}"/>
              </a:ext>
            </a:extLst>
          </p:cNvPr>
          <p:cNvSpPr/>
          <p:nvPr userDrawn="1"/>
        </p:nvSpPr>
        <p:spPr>
          <a:xfrm>
            <a:off x="694270" y="1714500"/>
            <a:ext cx="34051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dirty="0"/>
              <a:t>RTX primary palette</a:t>
            </a:r>
          </a:p>
          <a:p>
            <a:pPr marL="0" lvl="1"/>
            <a:r>
              <a:rPr lang="en-US" sz="1200" dirty="0"/>
              <a:t>Our primary palette consists of black and white.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8EA49-0A02-0ED7-45A0-47A86C772A32}"/>
              </a:ext>
            </a:extLst>
          </p:cNvPr>
          <p:cNvSpPr/>
          <p:nvPr userDrawn="1"/>
        </p:nvSpPr>
        <p:spPr>
          <a:xfrm>
            <a:off x="685800" y="4252665"/>
            <a:ext cx="375470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baseline="0" dirty="0"/>
              <a:t>PPT tertiary palette</a:t>
            </a:r>
            <a:endParaRPr lang="en-US" sz="1200" b="1" dirty="0"/>
          </a:p>
          <a:p>
            <a:pPr marL="0" lvl="1"/>
            <a:r>
              <a:rPr lang="en-US" sz="1200" dirty="0"/>
              <a:t>Accent colors </a:t>
            </a:r>
            <a:r>
              <a:rPr lang="en-US" sz="1200" b="1" dirty="0"/>
              <a:t>only</a:t>
            </a:r>
            <a:r>
              <a:rPr lang="en-US" sz="1200" baseline="0" dirty="0"/>
              <a:t> </a:t>
            </a:r>
            <a:r>
              <a:rPr lang="en-US" sz="1200" dirty="0"/>
              <a:t>for use in charts and graphs </a:t>
            </a:r>
            <a:br>
              <a:rPr lang="en-US" sz="1200" dirty="0"/>
            </a:br>
            <a:r>
              <a:rPr lang="en-US" sz="1200" dirty="0"/>
              <a:t>with many data points.</a:t>
            </a:r>
          </a:p>
          <a:p>
            <a:pPr marL="0" lvl="1"/>
            <a:endParaRPr lang="en-US" sz="1200" dirty="0"/>
          </a:p>
          <a:p>
            <a:pPr marL="0" lvl="1"/>
            <a:r>
              <a:rPr lang="en-US" sz="1200" dirty="0"/>
              <a:t>These additional</a:t>
            </a:r>
            <a:r>
              <a:rPr lang="en-US" sz="1200" baseline="0" dirty="0"/>
              <a:t> colors should only be used in PowerPoint presentations when needed to clearly communicate a message to your audience. 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5D63D-01CA-B54F-8233-A9EB59996BBD}"/>
              </a:ext>
            </a:extLst>
          </p:cNvPr>
          <p:cNvSpPr txBox="1"/>
          <p:nvPr userDrawn="1"/>
        </p:nvSpPr>
        <p:spPr>
          <a:xfrm>
            <a:off x="4376186" y="1714500"/>
            <a:ext cx="4428378" cy="114114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900" b="1"/>
              <a:t>White</a:t>
            </a:r>
          </a:p>
          <a:p>
            <a:r>
              <a:rPr lang="en-US" sz="900"/>
              <a:t>RGB: 255, 255, 255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73916-2A5F-D430-9CFA-FDCB9C43D8E5}"/>
              </a:ext>
            </a:extLst>
          </p:cNvPr>
          <p:cNvSpPr txBox="1"/>
          <p:nvPr userDrawn="1"/>
        </p:nvSpPr>
        <p:spPr>
          <a:xfrm>
            <a:off x="7818008" y="4638088"/>
            <a:ext cx="1600200" cy="230832"/>
          </a:xfrm>
          <a:prstGeom prst="rect">
            <a:avLst/>
          </a:prstGeom>
          <a:solidFill>
            <a:srgbClr val="EFB661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239, 182, 97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5B463-8F9A-BFCE-DCD7-43E205C0A4EC}"/>
              </a:ext>
            </a:extLst>
          </p:cNvPr>
          <p:cNvSpPr txBox="1"/>
          <p:nvPr userDrawn="1"/>
        </p:nvSpPr>
        <p:spPr>
          <a:xfrm>
            <a:off x="4376778" y="4638088"/>
            <a:ext cx="1600200" cy="230832"/>
          </a:xfrm>
          <a:prstGeom prst="rect">
            <a:avLst/>
          </a:prstGeom>
          <a:solidFill>
            <a:srgbClr val="908CC2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144, 140, 194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7A2A9-B6B8-434C-9DCC-B03F85CE6C3B}"/>
              </a:ext>
            </a:extLst>
          </p:cNvPr>
          <p:cNvSpPr txBox="1"/>
          <p:nvPr userDrawn="1"/>
        </p:nvSpPr>
        <p:spPr>
          <a:xfrm>
            <a:off x="6097393" y="4638088"/>
            <a:ext cx="1600200" cy="230832"/>
          </a:xfrm>
          <a:prstGeom prst="rect">
            <a:avLst/>
          </a:prstGeom>
          <a:solidFill>
            <a:srgbClr val="9ABEAA"/>
          </a:solidFill>
        </p:spPr>
        <p:txBody>
          <a:bodyPr wrap="square" rtlCol="0">
            <a:spAutoFit/>
          </a:bodyPr>
          <a:lstStyle/>
          <a:p>
            <a:r>
              <a:rPr lang="en-US" sz="900" b="0" dirty="0">
                <a:solidFill>
                  <a:schemeClr val="bg1"/>
                </a:solidFill>
              </a:rPr>
              <a:t>RGB: 154, 190, 170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6AA454-7A5B-66BC-D4A0-3D71A3A709F0}"/>
              </a:ext>
            </a:extLst>
          </p:cNvPr>
          <p:cNvSpPr/>
          <p:nvPr userDrawn="1"/>
        </p:nvSpPr>
        <p:spPr>
          <a:xfrm>
            <a:off x="685800" y="2975129"/>
            <a:ext cx="299997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dirty="0"/>
              <a:t>RTX secondary palette</a:t>
            </a:r>
          </a:p>
          <a:p>
            <a:pPr marL="0" lvl="1"/>
            <a:r>
              <a:rPr lang="en-US" sz="1200" dirty="0"/>
              <a:t>Our secondary color palette consists of the three grays and red specified. Be sure to use these formulas.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B09C7-834F-394E-A958-DF3E55FCE790}"/>
              </a:ext>
            </a:extLst>
          </p:cNvPr>
          <p:cNvSpPr txBox="1"/>
          <p:nvPr userDrawn="1"/>
        </p:nvSpPr>
        <p:spPr>
          <a:xfrm>
            <a:off x="694270" y="1107061"/>
            <a:ext cx="609713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/>
              <a:t>Predominant brand colors to be used for all presentations.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13F8C0-6D6A-5E83-58AF-5504B66B79EE}"/>
              </a:ext>
            </a:extLst>
          </p:cNvPr>
          <p:cNvCxnSpPr/>
          <p:nvPr userDrawn="1"/>
        </p:nvCxnSpPr>
        <p:spPr>
          <a:xfrm>
            <a:off x="694270" y="4023807"/>
            <a:ext cx="10813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6F29B8-5A4C-3DDE-1DDD-B84B5C085DA9}"/>
              </a:ext>
            </a:extLst>
          </p:cNvPr>
          <p:cNvSpPr txBox="1"/>
          <p:nvPr userDrawn="1"/>
        </p:nvSpPr>
        <p:spPr>
          <a:xfrm>
            <a:off x="7818008" y="2975129"/>
            <a:ext cx="1600200" cy="395283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Cool Gray 10</a:t>
            </a:r>
          </a:p>
          <a:p>
            <a:r>
              <a:rPr lang="en-US" sz="900">
                <a:solidFill>
                  <a:schemeClr val="bg1"/>
                </a:solidFill>
              </a:rPr>
              <a:t>RGB: 99, 102, 106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555A6-97AF-8ED4-EE9E-33F5D49CF7E1}"/>
              </a:ext>
            </a:extLst>
          </p:cNvPr>
          <p:cNvSpPr txBox="1"/>
          <p:nvPr userDrawn="1"/>
        </p:nvSpPr>
        <p:spPr>
          <a:xfrm>
            <a:off x="6097393" y="2975129"/>
            <a:ext cx="1600200" cy="39528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Cool Gray 5</a:t>
            </a:r>
          </a:p>
          <a:p>
            <a:r>
              <a:rPr lang="en-US" sz="900">
                <a:solidFill>
                  <a:schemeClr val="tx1"/>
                </a:solidFill>
              </a:rPr>
              <a:t>RGB: 177, 179, 179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986CA-9DEB-DC03-DBF1-6A24D2719E8E}"/>
              </a:ext>
            </a:extLst>
          </p:cNvPr>
          <p:cNvSpPr txBox="1"/>
          <p:nvPr userDrawn="1"/>
        </p:nvSpPr>
        <p:spPr>
          <a:xfrm>
            <a:off x="4376778" y="2975129"/>
            <a:ext cx="1600200" cy="39528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Cool Gray 1</a:t>
            </a:r>
          </a:p>
          <a:p>
            <a:r>
              <a:rPr lang="en-US" sz="900">
                <a:solidFill>
                  <a:schemeClr val="tx1"/>
                </a:solidFill>
              </a:rPr>
              <a:t>RGB: 217, 217, 214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4FAF87-9756-7369-920A-916A8ABEBE3A}"/>
              </a:ext>
            </a:extLst>
          </p:cNvPr>
          <p:cNvSpPr txBox="1"/>
          <p:nvPr userDrawn="1"/>
        </p:nvSpPr>
        <p:spPr>
          <a:xfrm>
            <a:off x="4376778" y="4252665"/>
            <a:ext cx="1600200" cy="2308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123, 167, 188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A9186-E29F-6230-342E-0C99C8F431C1}"/>
              </a:ext>
            </a:extLst>
          </p:cNvPr>
          <p:cNvSpPr txBox="1"/>
          <p:nvPr userDrawn="1"/>
        </p:nvSpPr>
        <p:spPr>
          <a:xfrm>
            <a:off x="9538623" y="2975129"/>
            <a:ext cx="1600200" cy="395283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Red 186</a:t>
            </a:r>
          </a:p>
          <a:p>
            <a:r>
              <a:rPr lang="en-US" sz="900">
                <a:solidFill>
                  <a:schemeClr val="bg1"/>
                </a:solidFill>
              </a:rPr>
              <a:t>RGB: 206, 17, 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F9550-0C58-B5DB-AC53-18760A42A073}"/>
              </a:ext>
            </a:extLst>
          </p:cNvPr>
          <p:cNvSpPr txBox="1"/>
          <p:nvPr userDrawn="1"/>
        </p:nvSpPr>
        <p:spPr>
          <a:xfrm>
            <a:off x="6097393" y="4252665"/>
            <a:ext cx="1600200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183, 169, 154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4DDDD-08AF-823A-E89F-47FD078CA228}"/>
              </a:ext>
            </a:extLst>
          </p:cNvPr>
          <p:cNvSpPr txBox="1"/>
          <p:nvPr userDrawn="1"/>
        </p:nvSpPr>
        <p:spPr>
          <a:xfrm>
            <a:off x="8947053" y="1714500"/>
            <a:ext cx="2191770" cy="1141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Black</a:t>
            </a:r>
          </a:p>
          <a:p>
            <a:r>
              <a:rPr lang="en-US" sz="900">
                <a:solidFill>
                  <a:schemeClr val="bg1"/>
                </a:solidFill>
              </a:rPr>
              <a:t>RGB: 0, 0, 0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8D12AED7-031C-3D1B-4DA5-3BC7BE962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CEB5585-C834-0985-6E75-F76DB3DE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F5C141-3253-710A-4EE9-3B9CEA40C4D1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RTX Corporation (Corporate) - Company Use</a:t>
            </a:r>
          </a:p>
        </p:txBody>
      </p:sp>
    </p:spTree>
    <p:extLst>
      <p:ext uri="{BB962C8B-B14F-4D97-AF65-F5344CB8AC3E}">
        <p14:creationId xmlns:p14="http://schemas.microsoft.com/office/powerpoint/2010/main" val="3650797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85799" y="1476000"/>
            <a:ext cx="10829543" cy="4315200"/>
          </a:xfrm>
          <a:noFill/>
        </p:spPr>
        <p:txBody>
          <a:bodyPr/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09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317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2675" indent="-2809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6038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28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 dirty="0"/>
              <a:t>Title. 32 pt. black. Bold. Sentence case. Two lines max.</a:t>
            </a:r>
          </a:p>
        </p:txBody>
      </p:sp>
      <p:sp>
        <p:nvSpPr>
          <p:cNvPr id="2" name="Takeaway bar">
            <a:extLst>
              <a:ext uri="{FF2B5EF4-FFF2-40B4-BE49-F238E27FC236}">
                <a16:creationId xmlns:a16="http://schemas.microsoft.com/office/drawing/2014/main" id="{8F3A43FB-9FBA-E24C-1C15-E32F1866C8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FA8D734-2FCE-8F54-C61F-7DDD193F1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4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/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4381500" y="1572733"/>
            <a:ext cx="7124700" cy="3903034"/>
          </a:xfrm>
          <a:solidFill>
            <a:schemeClr val="accent2">
              <a:lumMod val="20000"/>
              <a:lumOff val="80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572733"/>
            <a:ext cx="3419475" cy="590931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82C03A76-7437-CCE5-AA77-D22BE8AE05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933" y="2247900"/>
            <a:ext cx="3423867" cy="3227867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akeaway bar">
            <a:extLst>
              <a:ext uri="{FF2B5EF4-FFF2-40B4-BE49-F238E27FC236}">
                <a16:creationId xmlns:a16="http://schemas.microsoft.com/office/drawing/2014/main" id="{67AD0891-A881-5DC1-1013-4319173314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Optional takeaway bar. Black. Bold. 16 pt. Centered. Sentence case.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052439E-9AF4-ACA4-C314-22E8A138F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58A6D2-4E79-26F2-5027-E402F5C0B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82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 1"/>
          <p:cNvSpPr>
            <a:spLocks noGrp="1"/>
          </p:cNvSpPr>
          <p:nvPr>
            <p:ph type="body" sz="quarter" idx="13" hasCustomPrompt="1"/>
          </p:nvPr>
        </p:nvSpPr>
        <p:spPr>
          <a:xfrm>
            <a:off x="696433" y="2294021"/>
            <a:ext cx="5247167" cy="3497178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572733"/>
            <a:ext cx="5248274" cy="341632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 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248401" y="1572733"/>
            <a:ext cx="5248274" cy="341632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 </a:t>
            </a:r>
          </a:p>
        </p:txBody>
      </p:sp>
      <p:sp>
        <p:nvSpPr>
          <p:cNvPr id="15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CBE0B946-A5C4-9B05-3ADE-B4FE962322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8400" y="2294021"/>
            <a:ext cx="5247167" cy="3497178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akeaway bar">
            <a:extLst>
              <a:ext uri="{FF2B5EF4-FFF2-40B4-BE49-F238E27FC236}">
                <a16:creationId xmlns:a16="http://schemas.microsoft.com/office/drawing/2014/main" id="{5E9B1FFA-BD88-F9E9-59C9-C7AE0E13A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757467A-1A0B-9CF2-835A-491995583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29D32-0F02-D4E9-EACE-25F239ABD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7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3">
            <a:extLst>
              <a:ext uri="{FF2B5EF4-FFF2-40B4-BE49-F238E27FC236}">
                <a16:creationId xmlns:a16="http://schemas.microsoft.com/office/drawing/2014/main" id="{1227C6EA-CADE-4772-BF2C-DF04CBDCF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</p:spPr>
        <p:txBody>
          <a:bodyPr/>
          <a:lstStyle/>
          <a:p>
            <a:r>
              <a:rPr lang="en-US"/>
              <a:t>Title. 32 pt. black. Bold. Sentence case. Two lines max.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79596A4-F56F-4ABC-8E75-4BE60F7ED85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85802" y="1358207"/>
            <a:ext cx="3409912" cy="1940443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82A4F2F-B507-4076-99BD-50A0D640D8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72358" y="1358206"/>
            <a:ext cx="3429000" cy="1940444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D1CCE81E-2A1A-4C37-8FB9-A87A38D462E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68057" y="1358207"/>
            <a:ext cx="3438143" cy="1940443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8" name="Body 1">
            <a:extLst>
              <a:ext uri="{FF2B5EF4-FFF2-40B4-BE49-F238E27FC236}">
                <a16:creationId xmlns:a16="http://schemas.microsoft.com/office/drawing/2014/main" id="{06DFA2EB-3972-43A4-8F2F-1FA925C492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3B8C43-B217-4065-899D-965ABB835B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888" y="3513856"/>
            <a:ext cx="3411017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241EE5-BE3E-4ACB-AA02-55AD1071C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71270" y="3513856"/>
            <a:ext cx="3449084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C421A00-BD57-46F3-A96E-EBA27534BF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9811" y="3513856"/>
            <a:ext cx="3410355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D8C205A4-A491-3354-D436-AF9BF1F62E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81500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3" name="Body 1">
            <a:extLst>
              <a:ext uri="{FF2B5EF4-FFF2-40B4-BE49-F238E27FC236}">
                <a16:creationId xmlns:a16="http://schemas.microsoft.com/office/drawing/2014/main" id="{FB9FA8DA-D277-339F-4985-9623F740A8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5949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4" name="Takeaway bar">
            <a:extLst>
              <a:ext uri="{FF2B5EF4-FFF2-40B4-BE49-F238E27FC236}">
                <a16:creationId xmlns:a16="http://schemas.microsoft.com/office/drawing/2014/main" id="{F1C626FD-9651-7619-B6B8-C33DB71F60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A8EF709-B2B3-FDC4-BEA0-3E79EE4FF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2B96E76-BD74-5B34-0404-8247D0BC3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76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 title"/>
          <p:cNvSpPr>
            <a:spLocks noGrp="1"/>
          </p:cNvSpPr>
          <p:nvPr userDrawn="1">
            <p:ph type="title" hasCustomPrompt="1"/>
          </p:nvPr>
        </p:nvSpPr>
        <p:spPr>
          <a:xfrm>
            <a:off x="685800" y="2057399"/>
            <a:ext cx="7139619" cy="2769781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15" name="Presenters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0881" y="1451343"/>
            <a:ext cx="7139619" cy="356191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1" baseline="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Gray. Sentence case.</a:t>
            </a:r>
          </a:p>
        </p:txBody>
      </p:sp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2F658D7A-B710-3A1F-85B6-EA22382C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7004211" y="1671980"/>
            <a:ext cx="5747158" cy="3253280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51878CD8-EB03-3BE4-466C-CAB36D3B7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E9F6D1-276E-F2BC-3F0C-FB2F9C91E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70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ance: RTX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3E520A4-FAAE-1C23-A63D-FAE04B206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14E4D-FFCC-16F0-1F0B-8A1621EFC611}"/>
              </a:ext>
            </a:extLst>
          </p:cNvPr>
          <p:cNvSpPr txBox="1"/>
          <p:nvPr userDrawn="1"/>
        </p:nvSpPr>
        <p:spPr>
          <a:xfrm>
            <a:off x="662940" y="468598"/>
            <a:ext cx="10896600" cy="4862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0000"/>
              </a:lnSpc>
              <a:spcBef>
                <a:spcPct val="0"/>
              </a:spcBef>
              <a:buNone/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RTX color palette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41BBA-C64A-D926-1311-F092A2C6AC0E}"/>
              </a:ext>
            </a:extLst>
          </p:cNvPr>
          <p:cNvSpPr/>
          <p:nvPr userDrawn="1"/>
        </p:nvSpPr>
        <p:spPr>
          <a:xfrm>
            <a:off x="694270" y="1714500"/>
            <a:ext cx="34051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dirty="0"/>
              <a:t>RTX primary palette</a:t>
            </a:r>
          </a:p>
          <a:p>
            <a:pPr marL="0" lvl="1"/>
            <a:r>
              <a:rPr lang="en-US" sz="1200" dirty="0"/>
              <a:t>Our primary palette consists of black and white.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8EA49-0A02-0ED7-45A0-47A86C772A32}"/>
              </a:ext>
            </a:extLst>
          </p:cNvPr>
          <p:cNvSpPr/>
          <p:nvPr userDrawn="1"/>
        </p:nvSpPr>
        <p:spPr>
          <a:xfrm>
            <a:off x="685800" y="4252665"/>
            <a:ext cx="375470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baseline="0" dirty="0"/>
              <a:t>PPT tertiary palette</a:t>
            </a:r>
            <a:endParaRPr lang="en-US" sz="1200" b="1" dirty="0"/>
          </a:p>
          <a:p>
            <a:pPr marL="0" lvl="1"/>
            <a:r>
              <a:rPr lang="en-US" sz="1200" dirty="0"/>
              <a:t>Accent colors </a:t>
            </a:r>
            <a:r>
              <a:rPr lang="en-US" sz="1200" b="1" dirty="0"/>
              <a:t>only</a:t>
            </a:r>
            <a:r>
              <a:rPr lang="en-US" sz="1200" baseline="0" dirty="0"/>
              <a:t> </a:t>
            </a:r>
            <a:r>
              <a:rPr lang="en-US" sz="1200" dirty="0"/>
              <a:t>for use in charts and graphs </a:t>
            </a:r>
            <a:br>
              <a:rPr lang="en-US" sz="1200" dirty="0"/>
            </a:br>
            <a:r>
              <a:rPr lang="en-US" sz="1200" dirty="0"/>
              <a:t>with many data points.</a:t>
            </a:r>
          </a:p>
          <a:p>
            <a:pPr marL="0" lvl="1"/>
            <a:endParaRPr lang="en-US" sz="1200" dirty="0"/>
          </a:p>
          <a:p>
            <a:pPr marL="0" lvl="1"/>
            <a:r>
              <a:rPr lang="en-US" sz="1200" dirty="0"/>
              <a:t>These additional</a:t>
            </a:r>
            <a:r>
              <a:rPr lang="en-US" sz="1200" baseline="0" dirty="0"/>
              <a:t> colors should only be used in PowerPoint presentations when needed to clearly communicate a message to your audience. 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5D63D-01CA-B54F-8233-A9EB59996BBD}"/>
              </a:ext>
            </a:extLst>
          </p:cNvPr>
          <p:cNvSpPr txBox="1"/>
          <p:nvPr userDrawn="1"/>
        </p:nvSpPr>
        <p:spPr>
          <a:xfrm>
            <a:off x="4376186" y="1714500"/>
            <a:ext cx="4428378" cy="114114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900" b="1"/>
              <a:t>White</a:t>
            </a:r>
          </a:p>
          <a:p>
            <a:r>
              <a:rPr lang="en-US" sz="900"/>
              <a:t>RGB: 255, 255, 255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73916-2A5F-D430-9CFA-FDCB9C43D8E5}"/>
              </a:ext>
            </a:extLst>
          </p:cNvPr>
          <p:cNvSpPr txBox="1"/>
          <p:nvPr userDrawn="1"/>
        </p:nvSpPr>
        <p:spPr>
          <a:xfrm>
            <a:off x="7818008" y="4638088"/>
            <a:ext cx="1600200" cy="230832"/>
          </a:xfrm>
          <a:prstGeom prst="rect">
            <a:avLst/>
          </a:prstGeom>
          <a:solidFill>
            <a:srgbClr val="EFB661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239, 182, 97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5B463-8F9A-BFCE-DCD7-43E205C0A4EC}"/>
              </a:ext>
            </a:extLst>
          </p:cNvPr>
          <p:cNvSpPr txBox="1"/>
          <p:nvPr userDrawn="1"/>
        </p:nvSpPr>
        <p:spPr>
          <a:xfrm>
            <a:off x="4376778" y="4638088"/>
            <a:ext cx="1600200" cy="230832"/>
          </a:xfrm>
          <a:prstGeom prst="rect">
            <a:avLst/>
          </a:prstGeom>
          <a:solidFill>
            <a:srgbClr val="908CC2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144, 140, 194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7A2A9-B6B8-434C-9DCC-B03F85CE6C3B}"/>
              </a:ext>
            </a:extLst>
          </p:cNvPr>
          <p:cNvSpPr txBox="1"/>
          <p:nvPr userDrawn="1"/>
        </p:nvSpPr>
        <p:spPr>
          <a:xfrm>
            <a:off x="6097393" y="4638088"/>
            <a:ext cx="1600200" cy="230832"/>
          </a:xfrm>
          <a:prstGeom prst="rect">
            <a:avLst/>
          </a:prstGeom>
          <a:solidFill>
            <a:srgbClr val="9ABEAA"/>
          </a:solidFill>
        </p:spPr>
        <p:txBody>
          <a:bodyPr wrap="square" rtlCol="0">
            <a:spAutoFit/>
          </a:bodyPr>
          <a:lstStyle/>
          <a:p>
            <a:r>
              <a:rPr lang="en-US" sz="900" b="0" dirty="0">
                <a:solidFill>
                  <a:schemeClr val="bg1"/>
                </a:solidFill>
              </a:rPr>
              <a:t>RGB: 154, 190, 170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6AA454-7A5B-66BC-D4A0-3D71A3A709F0}"/>
              </a:ext>
            </a:extLst>
          </p:cNvPr>
          <p:cNvSpPr/>
          <p:nvPr userDrawn="1"/>
        </p:nvSpPr>
        <p:spPr>
          <a:xfrm>
            <a:off x="685800" y="2975129"/>
            <a:ext cx="299997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1"/>
            <a:r>
              <a:rPr lang="en-US" sz="1200" b="1" dirty="0"/>
              <a:t>RTX secondary palette</a:t>
            </a:r>
          </a:p>
          <a:p>
            <a:pPr marL="0" lvl="1"/>
            <a:r>
              <a:rPr lang="en-US" sz="1200" dirty="0"/>
              <a:t>Our secondary color palette consists of the three grays and red specified. Be sure to use these formulas.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B09C7-834F-394E-A958-DF3E55FCE790}"/>
              </a:ext>
            </a:extLst>
          </p:cNvPr>
          <p:cNvSpPr txBox="1"/>
          <p:nvPr userDrawn="1"/>
        </p:nvSpPr>
        <p:spPr>
          <a:xfrm>
            <a:off x="694270" y="1107061"/>
            <a:ext cx="609713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800"/>
              <a:t>Predominant brand colors to be used for all presentations.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13F8C0-6D6A-5E83-58AF-5504B66B79EE}"/>
              </a:ext>
            </a:extLst>
          </p:cNvPr>
          <p:cNvCxnSpPr/>
          <p:nvPr userDrawn="1"/>
        </p:nvCxnSpPr>
        <p:spPr>
          <a:xfrm>
            <a:off x="694270" y="4023807"/>
            <a:ext cx="10813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6F29B8-5A4C-3DDE-1DDD-B84B5C085DA9}"/>
              </a:ext>
            </a:extLst>
          </p:cNvPr>
          <p:cNvSpPr txBox="1"/>
          <p:nvPr userDrawn="1"/>
        </p:nvSpPr>
        <p:spPr>
          <a:xfrm>
            <a:off x="7818008" y="2975129"/>
            <a:ext cx="1600200" cy="395283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Cool Gray 10</a:t>
            </a:r>
          </a:p>
          <a:p>
            <a:r>
              <a:rPr lang="en-US" sz="900">
                <a:solidFill>
                  <a:schemeClr val="bg1"/>
                </a:solidFill>
              </a:rPr>
              <a:t>RGB: 99, 102, 106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555A6-97AF-8ED4-EE9E-33F5D49CF7E1}"/>
              </a:ext>
            </a:extLst>
          </p:cNvPr>
          <p:cNvSpPr txBox="1"/>
          <p:nvPr userDrawn="1"/>
        </p:nvSpPr>
        <p:spPr>
          <a:xfrm>
            <a:off x="6097393" y="2975129"/>
            <a:ext cx="1600200" cy="395283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Cool Gray 5</a:t>
            </a:r>
          </a:p>
          <a:p>
            <a:r>
              <a:rPr lang="en-US" sz="900">
                <a:solidFill>
                  <a:schemeClr val="tx1"/>
                </a:solidFill>
              </a:rPr>
              <a:t>RGB: 177, 179, 179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986CA-9DEB-DC03-DBF1-6A24D2719E8E}"/>
              </a:ext>
            </a:extLst>
          </p:cNvPr>
          <p:cNvSpPr txBox="1"/>
          <p:nvPr userDrawn="1"/>
        </p:nvSpPr>
        <p:spPr>
          <a:xfrm>
            <a:off x="4376778" y="2975129"/>
            <a:ext cx="1600200" cy="39528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Cool Gray 1</a:t>
            </a:r>
          </a:p>
          <a:p>
            <a:r>
              <a:rPr lang="en-US" sz="900">
                <a:solidFill>
                  <a:schemeClr val="tx1"/>
                </a:solidFill>
              </a:rPr>
              <a:t>RGB: 217, 217, 214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4FAF87-9756-7369-920A-916A8ABEBE3A}"/>
              </a:ext>
            </a:extLst>
          </p:cNvPr>
          <p:cNvSpPr txBox="1"/>
          <p:nvPr userDrawn="1"/>
        </p:nvSpPr>
        <p:spPr>
          <a:xfrm>
            <a:off x="4376778" y="4252665"/>
            <a:ext cx="1600200" cy="2308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123, 167, 188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A9186-E29F-6230-342E-0C99C8F431C1}"/>
              </a:ext>
            </a:extLst>
          </p:cNvPr>
          <p:cNvSpPr txBox="1"/>
          <p:nvPr userDrawn="1"/>
        </p:nvSpPr>
        <p:spPr>
          <a:xfrm>
            <a:off x="9538623" y="2975129"/>
            <a:ext cx="1600200" cy="395283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Red 186</a:t>
            </a:r>
          </a:p>
          <a:p>
            <a:r>
              <a:rPr lang="en-US" sz="900">
                <a:solidFill>
                  <a:schemeClr val="bg1"/>
                </a:solidFill>
              </a:rPr>
              <a:t>RGB: 206, 17, 38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F9550-0C58-B5DB-AC53-18760A42A073}"/>
              </a:ext>
            </a:extLst>
          </p:cNvPr>
          <p:cNvSpPr txBox="1"/>
          <p:nvPr userDrawn="1"/>
        </p:nvSpPr>
        <p:spPr>
          <a:xfrm>
            <a:off x="6097393" y="4252665"/>
            <a:ext cx="1600200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b="0">
                <a:solidFill>
                  <a:schemeClr val="bg1"/>
                </a:solidFill>
              </a:rPr>
              <a:t>RGB: 183, 169, 154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4DDDD-08AF-823A-E89F-47FD078CA228}"/>
              </a:ext>
            </a:extLst>
          </p:cNvPr>
          <p:cNvSpPr txBox="1"/>
          <p:nvPr userDrawn="1"/>
        </p:nvSpPr>
        <p:spPr>
          <a:xfrm>
            <a:off x="8947053" y="1714500"/>
            <a:ext cx="2191770" cy="11411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900" b="1">
                <a:solidFill>
                  <a:schemeClr val="bg1"/>
                </a:solidFill>
              </a:rPr>
              <a:t>Black</a:t>
            </a:r>
          </a:p>
          <a:p>
            <a:r>
              <a:rPr lang="en-US" sz="900">
                <a:solidFill>
                  <a:schemeClr val="bg1"/>
                </a:solidFill>
              </a:rPr>
              <a:t>RGB: 0, 0, 0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8D12AED7-031C-3D1B-4DA5-3BC7BE962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68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CEB5585-C834-0985-6E75-F76DB3DE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F5C141-3253-710A-4EE9-3B9CEA40C4D1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b="0" i="0" u="none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RTX Corporation (Corporate) - Company Use</a:t>
            </a:r>
          </a:p>
        </p:txBody>
      </p:sp>
    </p:spTree>
    <p:extLst>
      <p:ext uri="{BB962C8B-B14F-4D97-AF65-F5344CB8AC3E}">
        <p14:creationId xmlns:p14="http://schemas.microsoft.com/office/powerpoint/2010/main" val="896982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85799" y="1476000"/>
            <a:ext cx="10829543" cy="4315200"/>
          </a:xfrm>
          <a:noFill/>
        </p:spPr>
        <p:txBody>
          <a:bodyPr/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09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317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2675" indent="-2809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6038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28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Takeaway bar">
            <a:extLst>
              <a:ext uri="{FF2B5EF4-FFF2-40B4-BE49-F238E27FC236}">
                <a16:creationId xmlns:a16="http://schemas.microsoft.com/office/drawing/2014/main" id="{8F3A43FB-9FBA-E24C-1C15-E32F1866C8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FA8D734-2FCE-8F54-C61F-7DDD193F1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8E4AA0-598D-DD1F-A0C5-31D4206C1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41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/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4381500" y="1572733"/>
            <a:ext cx="7124700" cy="3903034"/>
          </a:xfrm>
          <a:solidFill>
            <a:schemeClr val="accent2">
              <a:lumMod val="20000"/>
              <a:lumOff val="80000"/>
            </a:schemeClr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572733"/>
            <a:ext cx="3419475" cy="590931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82C03A76-7437-CCE5-AA77-D22BE8AE05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933" y="2247900"/>
            <a:ext cx="3423867" cy="3227867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akeaway bar">
            <a:extLst>
              <a:ext uri="{FF2B5EF4-FFF2-40B4-BE49-F238E27FC236}">
                <a16:creationId xmlns:a16="http://schemas.microsoft.com/office/drawing/2014/main" id="{67AD0891-A881-5DC1-1013-4319173314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Optional takeaway bar. Black. Bold. 16 pt. Centered. Sentence case.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052439E-9AF4-ACA4-C314-22E8A138F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58A6D2-4E79-26F2-5027-E402F5C0B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3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1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 1"/>
          <p:cNvSpPr>
            <a:spLocks noGrp="1"/>
          </p:cNvSpPr>
          <p:nvPr>
            <p:ph type="body" sz="quarter" idx="13" hasCustomPrompt="1"/>
          </p:nvPr>
        </p:nvSpPr>
        <p:spPr>
          <a:xfrm>
            <a:off x="696433" y="2294021"/>
            <a:ext cx="5247167" cy="3497178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1572733"/>
            <a:ext cx="5248274" cy="341632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 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248401" y="1572733"/>
            <a:ext cx="5248274" cy="341632"/>
          </a:xfrm>
          <a:noFill/>
        </p:spPr>
        <p:txBody>
          <a:bodyPr wrap="square" bIns="9144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black. Bold. Sentence case. </a:t>
            </a:r>
          </a:p>
        </p:txBody>
      </p:sp>
      <p:sp>
        <p:nvSpPr>
          <p:cNvPr id="15" name="Title 5"/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Title. 32 pt. black. Bold. Sentence case. Two lines max.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CBE0B946-A5C4-9B05-3ADE-B4FE962322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8400" y="2294021"/>
            <a:ext cx="5247167" cy="3497178"/>
          </a:xfrm>
          <a:noFill/>
        </p:spPr>
        <p:txBody>
          <a:bodyPr rIns="182880"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akeaway bar">
            <a:extLst>
              <a:ext uri="{FF2B5EF4-FFF2-40B4-BE49-F238E27FC236}">
                <a16:creationId xmlns:a16="http://schemas.microsoft.com/office/drawing/2014/main" id="{5E9B1FFA-BD88-F9E9-59C9-C7AE0E13A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757467A-1A0B-9CF2-835A-491995583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29D32-0F02-D4E9-EACE-25F239ABD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9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3">
            <a:extLst>
              <a:ext uri="{FF2B5EF4-FFF2-40B4-BE49-F238E27FC236}">
                <a16:creationId xmlns:a16="http://schemas.microsoft.com/office/drawing/2014/main" id="{1227C6EA-CADE-4772-BF2C-DF04CBDCF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466347"/>
            <a:ext cx="10811256" cy="676653"/>
          </a:xfrm>
        </p:spPr>
        <p:txBody>
          <a:bodyPr/>
          <a:lstStyle/>
          <a:p>
            <a:r>
              <a:rPr lang="en-US"/>
              <a:t>Title. 32 pt. black. Bold. Sentence case. Two lines max.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79596A4-F56F-4ABC-8E75-4BE60F7ED85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85802" y="1358207"/>
            <a:ext cx="3409912" cy="1940443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82A4F2F-B507-4076-99BD-50A0D640D83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72358" y="1358206"/>
            <a:ext cx="3429000" cy="1940444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D1CCE81E-2A1A-4C37-8FB9-A87A38D462E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68057" y="1358207"/>
            <a:ext cx="3438143" cy="1940443"/>
          </a:xfrm>
          <a:solidFill>
            <a:schemeClr val="accent2">
              <a:lumMod val="20000"/>
              <a:lumOff val="80000"/>
            </a:schemeClr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8" name="Body 1">
            <a:extLst>
              <a:ext uri="{FF2B5EF4-FFF2-40B4-BE49-F238E27FC236}">
                <a16:creationId xmlns:a16="http://schemas.microsoft.com/office/drawing/2014/main" id="{06DFA2EB-3972-43A4-8F2F-1FA925C492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3B8C43-B217-4065-899D-965ABB835B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888" y="3513856"/>
            <a:ext cx="3411017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0241EE5-BE3E-4ACB-AA02-55AD1071C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71270" y="3513856"/>
            <a:ext cx="3449084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C421A00-BD57-46F3-A96E-EBA27534BF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9811" y="3513856"/>
            <a:ext cx="3410355" cy="5632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700" b="1" baseline="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17 pt. black. Bold. Sentence case.</a:t>
            </a:r>
          </a:p>
        </p:txBody>
      </p:sp>
      <p:sp>
        <p:nvSpPr>
          <p:cNvPr id="2" name="Body 1">
            <a:extLst>
              <a:ext uri="{FF2B5EF4-FFF2-40B4-BE49-F238E27FC236}">
                <a16:creationId xmlns:a16="http://schemas.microsoft.com/office/drawing/2014/main" id="{D8C205A4-A491-3354-D436-AF9BF1F62E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81500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3" name="Body 1">
            <a:extLst>
              <a:ext uri="{FF2B5EF4-FFF2-40B4-BE49-F238E27FC236}">
                <a16:creationId xmlns:a16="http://schemas.microsoft.com/office/drawing/2014/main" id="{FB9FA8DA-D277-339F-4985-9623F740A8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5949" y="4103771"/>
            <a:ext cx="3409912" cy="1655644"/>
          </a:xfrm>
          <a:noFill/>
        </p:spPr>
        <p:txBody>
          <a:bodyPr rIns="182880"/>
          <a:lstStyle>
            <a:lvl1pPr marL="182880" marR="0" indent="-18288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15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520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8086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7542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6998" indent="-2857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Pct val="100000"/>
              <a:buFont typeface="Arial" panose="020B0604020202020204" pitchFamily="34" charset="0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19456" lvl="0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Main bullet. 15 pt. black.</a:t>
            </a:r>
          </a:p>
          <a:p>
            <a:pPr marL="438912" lvl="1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Second level</a:t>
            </a:r>
          </a:p>
          <a:p>
            <a:pPr marL="621792" lvl="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  <a:p>
            <a:pPr marL="841248" lvl="3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</a:pPr>
            <a:r>
              <a:rPr lang="en-US"/>
              <a:t>Fourth level</a:t>
            </a:r>
          </a:p>
          <a:p>
            <a:pPr marL="1060704" lvl="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/>
              <a:t>Fifth level</a:t>
            </a:r>
          </a:p>
        </p:txBody>
      </p:sp>
      <p:sp>
        <p:nvSpPr>
          <p:cNvPr id="4" name="Takeaway bar">
            <a:extLst>
              <a:ext uri="{FF2B5EF4-FFF2-40B4-BE49-F238E27FC236}">
                <a16:creationId xmlns:a16="http://schemas.microsoft.com/office/drawing/2014/main" id="{F1C626FD-9651-7619-B6B8-C33DB71F60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4944" y="5865760"/>
            <a:ext cx="10820399" cy="320088"/>
          </a:xfrm>
          <a:solidFill>
            <a:schemeClr val="accent1"/>
          </a:solidFill>
        </p:spPr>
        <p:txBody>
          <a:bodyPr vert="horz" wrap="square" lIns="621792" tIns="36576" rIns="621792" bIns="36576" rtlCol="0" anchor="b" anchorCtr="0">
            <a:spAutoFit/>
          </a:bodyPr>
          <a:lstStyle>
            <a:lvl1pPr marL="0" indent="0" algn="ctr" defTabSz="0">
              <a:lnSpc>
                <a:spcPct val="100000"/>
              </a:lnSpc>
              <a:spcBef>
                <a:spcPts val="0"/>
              </a:spcBef>
              <a:buFontTx/>
              <a:buNone/>
              <a:def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Optional takeaway bar. Black. Bold. 16 pt. Centered. Sentence case.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A8EF709-B2B3-FDC4-BEA0-3E79EE4FF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2B96E76-BD74-5B34-0404-8247D0BC3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76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1" cy="6172200"/>
          </a:xfrm>
          <a:solidFill>
            <a:schemeClr val="accent2">
              <a:lumMod val="20000"/>
              <a:lumOff val="80000"/>
            </a:schemeClr>
          </a:solidFill>
        </p:spPr>
        <p:txBody>
          <a:bodyPr tIns="548640"/>
          <a:lstStyle>
            <a:lvl1pPr algn="ctr">
              <a:defRPr b="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4" name="Section title"/>
          <p:cNvSpPr>
            <a:spLocks noGrp="1"/>
          </p:cNvSpPr>
          <p:nvPr>
            <p:ph type="title" hasCustomPrompt="1"/>
          </p:nvPr>
        </p:nvSpPr>
        <p:spPr>
          <a:xfrm>
            <a:off x="694944" y="2057400"/>
            <a:ext cx="8944356" cy="205740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3233DA6-3194-CB55-7993-3414CBEB3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7A94AD-D92F-6979-D0A5-00AE4C80A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52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 title"/>
          <p:cNvSpPr>
            <a:spLocks noGrp="1"/>
          </p:cNvSpPr>
          <p:nvPr userDrawn="1">
            <p:ph type="title" hasCustomPrompt="1"/>
          </p:nvPr>
        </p:nvSpPr>
        <p:spPr>
          <a:xfrm>
            <a:off x="685800" y="2057399"/>
            <a:ext cx="7139619" cy="2769781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15" name="Presenters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0881" y="1451343"/>
            <a:ext cx="7139619" cy="356191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1" baseline="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Gray. Sentence case.</a:t>
            </a:r>
          </a:p>
        </p:txBody>
      </p:sp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2F658D7A-B710-3A1F-85B6-EA22382C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7004211" y="1671980"/>
            <a:ext cx="5747158" cy="3253280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51878CD8-EB03-3BE4-466C-CAB36D3B7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E9F6D1-276E-F2BC-3F0C-FB2F9C91E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51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1" cy="6172200"/>
          </a:xfrm>
          <a:solidFill>
            <a:schemeClr val="accent2">
              <a:lumMod val="20000"/>
              <a:lumOff val="80000"/>
            </a:schemeClr>
          </a:solidFill>
        </p:spPr>
        <p:txBody>
          <a:bodyPr tIns="548640"/>
          <a:lstStyle>
            <a:lvl1pPr algn="ctr">
              <a:defRPr b="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4" name="Section title"/>
          <p:cNvSpPr>
            <a:spLocks noGrp="1"/>
          </p:cNvSpPr>
          <p:nvPr>
            <p:ph type="title" hasCustomPrompt="1"/>
          </p:nvPr>
        </p:nvSpPr>
        <p:spPr>
          <a:xfrm>
            <a:off x="694944" y="2057400"/>
            <a:ext cx="8944356" cy="205740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3233DA6-3194-CB55-7993-3414CBEB3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7A94AD-D92F-6979-D0A5-00AE4C80A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37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 title"/>
          <p:cNvSpPr>
            <a:spLocks noGrp="1"/>
          </p:cNvSpPr>
          <p:nvPr userDrawn="1">
            <p:ph type="title" hasCustomPrompt="1"/>
          </p:nvPr>
        </p:nvSpPr>
        <p:spPr>
          <a:xfrm>
            <a:off x="685800" y="2057399"/>
            <a:ext cx="7139619" cy="2769781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aseline="0" dirty="0"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>
              <a:spcBef>
                <a:spcPts val="1000"/>
              </a:spcBef>
              <a:buSzPct val="115000"/>
              <a:buFont typeface="Arial" panose="020B0604020202020204" pitchFamily="34" charset="0"/>
            </a:pPr>
            <a:r>
              <a:rPr lang="en-US"/>
              <a:t>Section title. 55 pt. black. Bold. Sentence case. </a:t>
            </a:r>
          </a:p>
        </p:txBody>
      </p:sp>
      <p:sp>
        <p:nvSpPr>
          <p:cNvPr id="15" name="Presenters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0881" y="1451343"/>
            <a:ext cx="7139619" cy="356191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600" b="1" baseline="0">
                <a:solidFill>
                  <a:schemeClr val="accent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16 pt. Gray. Sentence case.</a:t>
            </a:r>
          </a:p>
        </p:txBody>
      </p:sp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2F658D7A-B710-3A1F-85B6-EA22382C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7004211" y="1671980"/>
            <a:ext cx="5747158" cy="3253280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51878CD8-EB03-3BE4-466C-CAB36D3B7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E9F6D1-276E-F2BC-3F0C-FB2F9C91E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75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ers"/>
          <p:cNvSpPr>
            <a:spLocks noGrp="1"/>
          </p:cNvSpPr>
          <p:nvPr>
            <p:ph type="body" idx="1"/>
          </p:nvPr>
        </p:nvSpPr>
        <p:spPr>
          <a:xfrm>
            <a:off x="647700" y="3811347"/>
            <a:ext cx="3581400" cy="333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47700" y="2743200"/>
            <a:ext cx="10896600" cy="70184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pyright"/>
          <p:cNvSpPr txBox="1">
            <a:spLocks noChangeArrowheads="1"/>
          </p:cNvSpPr>
          <p:nvPr userDrawn="1"/>
        </p:nvSpPr>
        <p:spPr bwMode="auto">
          <a:xfrm>
            <a:off x="4963949" y="6956980"/>
            <a:ext cx="2264102" cy="92333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30188" indent="-2301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algn="ctr"/>
            <a:endParaRPr lang="en-U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8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703" r:id="rId3"/>
    <p:sldLayoutId id="2147483701" r:id="rId4"/>
    <p:sldLayoutId id="2147483724" r:id="rId5"/>
    <p:sldLayoutId id="2147483723" r:id="rId6"/>
    <p:sldLayoutId id="2147483721" r:id="rId7"/>
    <p:sldLayoutId id="2147483722" r:id="rId8"/>
    <p:sldLayoutId id="2147483725" r:id="rId9"/>
    <p:sldLayoutId id="2147483704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0" rtl="0" eaLnBrk="1" latinLnBrk="0" hangingPunct="1">
        <a:lnSpc>
          <a:spcPct val="90000"/>
        </a:lnSpc>
        <a:spcBef>
          <a:spcPts val="0"/>
        </a:spcBef>
        <a:buSzPct val="115000"/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 userDrawn="1">
          <p15:clr>
            <a:srgbClr val="A4A3A4"/>
          </p15:clr>
        </p15:guide>
        <p15:guide id="3" pos="7248" userDrawn="1">
          <p15:clr>
            <a:srgbClr val="A4A3A4"/>
          </p15:clr>
        </p15:guide>
        <p15:guide id="5" pos="1416" userDrawn="1">
          <p15:clr>
            <a:srgbClr val="A4A3A4"/>
          </p15:clr>
        </p15:guide>
        <p15:guide id="6" pos="1608" userDrawn="1">
          <p15:clr>
            <a:srgbClr val="A4A3A4"/>
          </p15:clr>
        </p15:guide>
        <p15:guide id="7" pos="2592" userDrawn="1">
          <p15:clr>
            <a:srgbClr val="A4A3A4"/>
          </p15:clr>
        </p15:guide>
        <p15:guide id="8" pos="2760" userDrawn="1">
          <p15:clr>
            <a:srgbClr val="A4A3A4"/>
          </p15:clr>
        </p15:guide>
        <p15:guide id="9" pos="3744" userDrawn="1">
          <p15:clr>
            <a:srgbClr val="A4A3A4"/>
          </p15:clr>
        </p15:guide>
        <p15:guide id="10" pos="3936" userDrawn="1">
          <p15:clr>
            <a:srgbClr val="A4A3A4"/>
          </p15:clr>
        </p15:guide>
        <p15:guide id="11" pos="4920" userDrawn="1">
          <p15:clr>
            <a:srgbClr val="A4A3A4"/>
          </p15:clr>
        </p15:guide>
        <p15:guide id="12" pos="5088" userDrawn="1">
          <p15:clr>
            <a:srgbClr val="A4A3A4"/>
          </p15:clr>
        </p15:guide>
        <p15:guide id="13" pos="6072" userDrawn="1">
          <p15:clr>
            <a:srgbClr val="A4A3A4"/>
          </p15:clr>
        </p15:guide>
        <p15:guide id="14" pos="6264" userDrawn="1">
          <p15:clr>
            <a:srgbClr val="A4A3A4"/>
          </p15:clr>
        </p15:guide>
        <p15:guide id="15" orient="horz" pos="3888" userDrawn="1">
          <p15:clr>
            <a:srgbClr val="547EBF"/>
          </p15:clr>
        </p15:guide>
        <p15:guide id="16" orient="horz" pos="1296" userDrawn="1">
          <p15:clr>
            <a:srgbClr val="547EBF"/>
          </p15:clr>
        </p15:guide>
        <p15:guide id="17" orient="horz" pos="2616" userDrawn="1">
          <p15:clr>
            <a:srgbClr val="547EBF"/>
          </p15:clr>
        </p15:guide>
        <p15:guide id="18" orient="horz" pos="2976" userDrawn="1">
          <p15:clr>
            <a:srgbClr val="547E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ers"/>
          <p:cNvSpPr>
            <a:spLocks noGrp="1"/>
          </p:cNvSpPr>
          <p:nvPr>
            <p:ph type="body" idx="1"/>
          </p:nvPr>
        </p:nvSpPr>
        <p:spPr>
          <a:xfrm>
            <a:off x="647700" y="3811347"/>
            <a:ext cx="3581400" cy="333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47700" y="2743200"/>
            <a:ext cx="10896600" cy="70184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pyright"/>
          <p:cNvSpPr txBox="1">
            <a:spLocks noChangeArrowheads="1"/>
          </p:cNvSpPr>
          <p:nvPr userDrawn="1"/>
        </p:nvSpPr>
        <p:spPr bwMode="auto">
          <a:xfrm>
            <a:off x="4963949" y="6956980"/>
            <a:ext cx="2264102" cy="92333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30188" indent="-2301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10000"/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algn="ctr"/>
            <a:endParaRPr lang="en-U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07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0" rtl="0" eaLnBrk="1" latinLnBrk="0" hangingPunct="1">
        <a:lnSpc>
          <a:spcPct val="90000"/>
        </a:lnSpc>
        <a:spcBef>
          <a:spcPts val="0"/>
        </a:spcBef>
        <a:buSzPct val="115000"/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 userDrawn="1">
          <p15:clr>
            <a:srgbClr val="A4A3A4"/>
          </p15:clr>
        </p15:guide>
        <p15:guide id="3" pos="7248" userDrawn="1">
          <p15:clr>
            <a:srgbClr val="A4A3A4"/>
          </p15:clr>
        </p15:guide>
        <p15:guide id="5" pos="1416" userDrawn="1">
          <p15:clr>
            <a:srgbClr val="A4A3A4"/>
          </p15:clr>
        </p15:guide>
        <p15:guide id="6" pos="1608" userDrawn="1">
          <p15:clr>
            <a:srgbClr val="A4A3A4"/>
          </p15:clr>
        </p15:guide>
        <p15:guide id="7" pos="2592" userDrawn="1">
          <p15:clr>
            <a:srgbClr val="A4A3A4"/>
          </p15:clr>
        </p15:guide>
        <p15:guide id="8" pos="2760" userDrawn="1">
          <p15:clr>
            <a:srgbClr val="A4A3A4"/>
          </p15:clr>
        </p15:guide>
        <p15:guide id="9" pos="3744" userDrawn="1">
          <p15:clr>
            <a:srgbClr val="A4A3A4"/>
          </p15:clr>
        </p15:guide>
        <p15:guide id="10" pos="3936" userDrawn="1">
          <p15:clr>
            <a:srgbClr val="A4A3A4"/>
          </p15:clr>
        </p15:guide>
        <p15:guide id="11" pos="4920" userDrawn="1">
          <p15:clr>
            <a:srgbClr val="A4A3A4"/>
          </p15:clr>
        </p15:guide>
        <p15:guide id="12" pos="5088" userDrawn="1">
          <p15:clr>
            <a:srgbClr val="A4A3A4"/>
          </p15:clr>
        </p15:guide>
        <p15:guide id="13" pos="6072" userDrawn="1">
          <p15:clr>
            <a:srgbClr val="A4A3A4"/>
          </p15:clr>
        </p15:guide>
        <p15:guide id="14" pos="6264" userDrawn="1">
          <p15:clr>
            <a:srgbClr val="A4A3A4"/>
          </p15:clr>
        </p15:guide>
        <p15:guide id="15" orient="horz" pos="3888" userDrawn="1">
          <p15:clr>
            <a:srgbClr val="547EBF"/>
          </p15:clr>
        </p15:guide>
        <p15:guide id="16" orient="horz" pos="1296" userDrawn="1">
          <p15:clr>
            <a:srgbClr val="547EBF"/>
          </p15:clr>
        </p15:guide>
        <p15:guide id="17" orient="horz" pos="2616" userDrawn="1">
          <p15:clr>
            <a:srgbClr val="547EBF"/>
          </p15:clr>
        </p15:guide>
        <p15:guide id="18" orient="horz" pos="2976" userDrawn="1">
          <p15:clr>
            <a:srgbClr val="547EB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476001"/>
            <a:ext cx="10821419" cy="431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24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4"/>
          <p:cNvSpPr>
            <a:spLocks noGrp="1"/>
          </p:cNvSpPr>
          <p:nvPr>
            <p:ph type="title"/>
          </p:nvPr>
        </p:nvSpPr>
        <p:spPr>
          <a:xfrm>
            <a:off x="694944" y="463255"/>
            <a:ext cx="10811256" cy="6797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032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92" r:id="rId2"/>
    <p:sldLayoutId id="2147483695" r:id="rId3"/>
    <p:sldLayoutId id="2147483669" r:id="rId4"/>
    <p:sldLayoutId id="2147483664" r:id="rId5"/>
    <p:sldLayoutId id="2147483694" r:id="rId6"/>
    <p:sldLayoutId id="2147483726" r:id="rId7"/>
  </p:sldLayoutIdLst>
  <p:hf hdr="0" dt="0"/>
  <p:txStyles>
    <p:titleStyle>
      <a:lvl1pPr marL="0" algn="l" defTabSz="914400" rtl="0" eaLnBrk="1" latinLnBrk="0" hangingPunct="1">
        <a:lnSpc>
          <a:spcPct val="80000"/>
        </a:lnSpc>
        <a:spcBef>
          <a:spcPct val="0"/>
        </a:spcBef>
        <a:buNone/>
        <a:defRPr lang="en-US" sz="3200" b="1" kern="1200" baseline="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19456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41248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60704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48" userDrawn="1">
          <p15:clr>
            <a:srgbClr val="547EBF"/>
          </p15:clr>
        </p15:guide>
        <p15:guide id="3" pos="432" userDrawn="1">
          <p15:clr>
            <a:srgbClr val="547EBF"/>
          </p15:clr>
        </p15:guide>
        <p15:guide id="4" orient="horz" pos="3888" userDrawn="1">
          <p15:clr>
            <a:srgbClr val="547EBF"/>
          </p15:clr>
        </p15:guide>
        <p15:guide id="5" orient="horz" pos="288" userDrawn="1">
          <p15:clr>
            <a:srgbClr val="547EBF"/>
          </p15:clr>
        </p15:guide>
        <p15:guide id="6" pos="1416" userDrawn="1">
          <p15:clr>
            <a:srgbClr val="A4A3A4"/>
          </p15:clr>
        </p15:guide>
        <p15:guide id="7" pos="1608" userDrawn="1">
          <p15:clr>
            <a:srgbClr val="A4A3A4"/>
          </p15:clr>
        </p15:guide>
        <p15:guide id="8" pos="3744" userDrawn="1">
          <p15:clr>
            <a:srgbClr val="A4A3A4"/>
          </p15:clr>
        </p15:guide>
        <p15:guide id="9" pos="3936" userDrawn="1">
          <p15:clr>
            <a:srgbClr val="A4A3A4"/>
          </p15:clr>
        </p15:guide>
        <p15:guide id="10" pos="4920" userDrawn="1">
          <p15:clr>
            <a:srgbClr val="A4A3A4"/>
          </p15:clr>
        </p15:guide>
        <p15:guide id="11" pos="5088" userDrawn="1">
          <p15:clr>
            <a:srgbClr val="A4A3A4"/>
          </p15:clr>
        </p15:guide>
        <p15:guide id="12" pos="6072" userDrawn="1">
          <p15:clr>
            <a:srgbClr val="A4A3A4"/>
          </p15:clr>
        </p15:guide>
        <p15:guide id="13" pos="6264" userDrawn="1">
          <p15:clr>
            <a:srgbClr val="A4A3A4"/>
          </p15:clr>
        </p15:guide>
        <p15:guide id="14" pos="2592" userDrawn="1">
          <p15:clr>
            <a:srgbClr val="A4A3A4"/>
          </p15:clr>
        </p15:guide>
        <p15:guide id="15" pos="2760" userDrawn="1">
          <p15:clr>
            <a:srgbClr val="A4A3A4"/>
          </p15:clr>
        </p15:guide>
        <p15:guide id="16" orient="horz" pos="720" userDrawn="1">
          <p15:clr>
            <a:srgbClr val="547EBF"/>
          </p15:clr>
        </p15:guide>
        <p15:guide id="17" orient="horz" pos="480" userDrawn="1">
          <p15:clr>
            <a:srgbClr val="547EBF"/>
          </p15:clr>
        </p15:guide>
        <p15:guide id="18" orient="horz" pos="984" userDrawn="1">
          <p15:clr>
            <a:srgbClr val="F26B43"/>
          </p15:clr>
        </p15:guide>
        <p15:guide id="19" orient="horz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476001"/>
            <a:ext cx="10821419" cy="431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24 pt. black.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4"/>
          <p:cNvSpPr>
            <a:spLocks noGrp="1"/>
          </p:cNvSpPr>
          <p:nvPr>
            <p:ph type="title"/>
          </p:nvPr>
        </p:nvSpPr>
        <p:spPr>
          <a:xfrm>
            <a:off x="694944" y="463255"/>
            <a:ext cx="10811256" cy="6797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658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</p:sldLayoutIdLst>
  <p:hf hdr="0" dt="0"/>
  <p:txStyles>
    <p:titleStyle>
      <a:lvl1pPr marL="0" algn="l" defTabSz="914400" rtl="0" eaLnBrk="1" latinLnBrk="0" hangingPunct="1">
        <a:lnSpc>
          <a:spcPct val="80000"/>
        </a:lnSpc>
        <a:spcBef>
          <a:spcPct val="0"/>
        </a:spcBef>
        <a:buNone/>
        <a:defRPr lang="en-US" sz="3200" b="1" kern="1200" baseline="0" dirty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19456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41248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60704" indent="-21945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48" userDrawn="1">
          <p15:clr>
            <a:srgbClr val="547EBF"/>
          </p15:clr>
        </p15:guide>
        <p15:guide id="3" pos="432" userDrawn="1">
          <p15:clr>
            <a:srgbClr val="547EBF"/>
          </p15:clr>
        </p15:guide>
        <p15:guide id="4" orient="horz" pos="3888" userDrawn="1">
          <p15:clr>
            <a:srgbClr val="547EBF"/>
          </p15:clr>
        </p15:guide>
        <p15:guide id="5" orient="horz" pos="288" userDrawn="1">
          <p15:clr>
            <a:srgbClr val="547EBF"/>
          </p15:clr>
        </p15:guide>
        <p15:guide id="6" pos="1416" userDrawn="1">
          <p15:clr>
            <a:srgbClr val="A4A3A4"/>
          </p15:clr>
        </p15:guide>
        <p15:guide id="7" pos="1608" userDrawn="1">
          <p15:clr>
            <a:srgbClr val="A4A3A4"/>
          </p15:clr>
        </p15:guide>
        <p15:guide id="8" pos="3744" userDrawn="1">
          <p15:clr>
            <a:srgbClr val="A4A3A4"/>
          </p15:clr>
        </p15:guide>
        <p15:guide id="9" pos="3936" userDrawn="1">
          <p15:clr>
            <a:srgbClr val="A4A3A4"/>
          </p15:clr>
        </p15:guide>
        <p15:guide id="10" pos="4920" userDrawn="1">
          <p15:clr>
            <a:srgbClr val="A4A3A4"/>
          </p15:clr>
        </p15:guide>
        <p15:guide id="11" pos="5088" userDrawn="1">
          <p15:clr>
            <a:srgbClr val="A4A3A4"/>
          </p15:clr>
        </p15:guide>
        <p15:guide id="12" pos="6072" userDrawn="1">
          <p15:clr>
            <a:srgbClr val="A4A3A4"/>
          </p15:clr>
        </p15:guide>
        <p15:guide id="13" pos="6264" userDrawn="1">
          <p15:clr>
            <a:srgbClr val="A4A3A4"/>
          </p15:clr>
        </p15:guide>
        <p15:guide id="14" pos="2592" userDrawn="1">
          <p15:clr>
            <a:srgbClr val="A4A3A4"/>
          </p15:clr>
        </p15:guide>
        <p15:guide id="15" pos="2760" userDrawn="1">
          <p15:clr>
            <a:srgbClr val="A4A3A4"/>
          </p15:clr>
        </p15:guide>
        <p15:guide id="16" orient="horz" pos="720" userDrawn="1">
          <p15:clr>
            <a:srgbClr val="547EBF"/>
          </p15:clr>
        </p15:guide>
        <p15:guide id="17" orient="horz" pos="480" userDrawn="1">
          <p15:clr>
            <a:srgbClr val="547EBF"/>
          </p15:clr>
        </p15:guide>
        <p15:guide id="18" orient="horz" pos="984" userDrawn="1">
          <p15:clr>
            <a:srgbClr val="F26B43"/>
          </p15:clr>
        </p15:guide>
        <p15:guide id="19" orient="horz" pos="364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ers"/>
          <p:cNvSpPr>
            <a:spLocks noGrp="1"/>
          </p:cNvSpPr>
          <p:nvPr>
            <p:ph type="body" idx="1"/>
          </p:nvPr>
        </p:nvSpPr>
        <p:spPr>
          <a:xfrm>
            <a:off x="685800" y="3900728"/>
            <a:ext cx="3581400" cy="333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1874225"/>
            <a:ext cx="10820400" cy="16619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547A21D-2A8F-FEFE-660B-5ECF70D4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0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86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0" rtl="0" eaLnBrk="1" latinLnBrk="0" hangingPunct="1">
        <a:lnSpc>
          <a:spcPct val="90000"/>
        </a:lnSpc>
        <a:spcBef>
          <a:spcPts val="0"/>
        </a:spcBef>
        <a:buSzPct val="115000"/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A4A3A4"/>
          </p15:clr>
        </p15:guide>
        <p15:guide id="3" pos="7248">
          <p15:clr>
            <a:srgbClr val="A4A3A4"/>
          </p15:clr>
        </p15:guide>
        <p15:guide id="5" pos="1416">
          <p15:clr>
            <a:srgbClr val="A4A3A4"/>
          </p15:clr>
        </p15:guide>
        <p15:guide id="6" pos="1608">
          <p15:clr>
            <a:srgbClr val="A4A3A4"/>
          </p15:clr>
        </p15:guide>
        <p15:guide id="7" pos="2592">
          <p15:clr>
            <a:srgbClr val="A4A3A4"/>
          </p15:clr>
        </p15:guide>
        <p15:guide id="8" pos="2760">
          <p15:clr>
            <a:srgbClr val="A4A3A4"/>
          </p15:clr>
        </p15:guide>
        <p15:guide id="9" pos="3744">
          <p15:clr>
            <a:srgbClr val="A4A3A4"/>
          </p15:clr>
        </p15:guide>
        <p15:guide id="10" pos="3936">
          <p15:clr>
            <a:srgbClr val="A4A3A4"/>
          </p15:clr>
        </p15:guide>
        <p15:guide id="11" pos="4920">
          <p15:clr>
            <a:srgbClr val="A4A3A4"/>
          </p15:clr>
        </p15:guide>
        <p15:guide id="12" pos="5088">
          <p15:clr>
            <a:srgbClr val="A4A3A4"/>
          </p15:clr>
        </p15:guide>
        <p15:guide id="13" pos="6072">
          <p15:clr>
            <a:srgbClr val="A4A3A4"/>
          </p15:clr>
        </p15:guide>
        <p15:guide id="14" pos="6264">
          <p15:clr>
            <a:srgbClr val="A4A3A4"/>
          </p15:clr>
        </p15:guide>
        <p15:guide id="15" orient="horz" pos="3888">
          <p15:clr>
            <a:srgbClr val="547EBF"/>
          </p15:clr>
        </p15:guide>
        <p15:guide id="16" orient="horz" pos="1296">
          <p15:clr>
            <a:srgbClr val="547EBF"/>
          </p15:clr>
        </p15:guide>
        <p15:guide id="17" orient="horz" pos="2592">
          <p15:clr>
            <a:srgbClr val="547EBF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ers"/>
          <p:cNvSpPr>
            <a:spLocks noGrp="1"/>
          </p:cNvSpPr>
          <p:nvPr>
            <p:ph type="body" idx="1"/>
          </p:nvPr>
        </p:nvSpPr>
        <p:spPr>
          <a:xfrm>
            <a:off x="685800" y="3900728"/>
            <a:ext cx="3581400" cy="333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1874225"/>
            <a:ext cx="10820400" cy="16619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547A21D-2A8F-FEFE-660B-5ECF70D4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1200" kern="120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65E6F-54ED-4977-A15E-D44BE7238A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5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0" rtl="0" eaLnBrk="1" latinLnBrk="0" hangingPunct="1">
        <a:lnSpc>
          <a:spcPct val="90000"/>
        </a:lnSpc>
        <a:spcBef>
          <a:spcPts val="0"/>
        </a:spcBef>
        <a:buSzPct val="115000"/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0000"/>
        </a:lnSpc>
        <a:spcBef>
          <a:spcPts val="500"/>
        </a:spcBef>
        <a:buSzPct val="115000"/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A4A3A4"/>
          </p15:clr>
        </p15:guide>
        <p15:guide id="3" pos="7248">
          <p15:clr>
            <a:srgbClr val="A4A3A4"/>
          </p15:clr>
        </p15:guide>
        <p15:guide id="5" pos="1416">
          <p15:clr>
            <a:srgbClr val="A4A3A4"/>
          </p15:clr>
        </p15:guide>
        <p15:guide id="6" pos="1608">
          <p15:clr>
            <a:srgbClr val="A4A3A4"/>
          </p15:clr>
        </p15:guide>
        <p15:guide id="7" pos="2592">
          <p15:clr>
            <a:srgbClr val="A4A3A4"/>
          </p15:clr>
        </p15:guide>
        <p15:guide id="8" pos="2760">
          <p15:clr>
            <a:srgbClr val="A4A3A4"/>
          </p15:clr>
        </p15:guide>
        <p15:guide id="9" pos="3744">
          <p15:clr>
            <a:srgbClr val="A4A3A4"/>
          </p15:clr>
        </p15:guide>
        <p15:guide id="10" pos="3936">
          <p15:clr>
            <a:srgbClr val="A4A3A4"/>
          </p15:clr>
        </p15:guide>
        <p15:guide id="11" pos="4920">
          <p15:clr>
            <a:srgbClr val="A4A3A4"/>
          </p15:clr>
        </p15:guide>
        <p15:guide id="12" pos="5088">
          <p15:clr>
            <a:srgbClr val="A4A3A4"/>
          </p15:clr>
        </p15:guide>
        <p15:guide id="13" pos="6072">
          <p15:clr>
            <a:srgbClr val="A4A3A4"/>
          </p15:clr>
        </p15:guide>
        <p15:guide id="14" pos="6264">
          <p15:clr>
            <a:srgbClr val="A4A3A4"/>
          </p15:clr>
        </p15:guide>
        <p15:guide id="15" orient="horz" pos="3888">
          <p15:clr>
            <a:srgbClr val="547EBF"/>
          </p15:clr>
        </p15:guide>
        <p15:guide id="16" orient="horz" pos="1296">
          <p15:clr>
            <a:srgbClr val="547EBF"/>
          </p15:clr>
        </p15:guide>
        <p15:guide id="17" orient="horz" pos="259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2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1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Sphere of mesh and nodes">
            <a:extLst>
              <a:ext uri="{FF2B5EF4-FFF2-40B4-BE49-F238E27FC236}">
                <a16:creationId xmlns:a16="http://schemas.microsoft.com/office/drawing/2014/main" id="{68CA37A0-EF3A-B62E-4BE2-9F3B26AE6FC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22830" b="22830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8034C-0CD9-DEE4-1DF3-4CEC18D4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4061"/>
            <a:ext cx="7162800" cy="1329595"/>
          </a:xfrm>
        </p:spPr>
        <p:txBody>
          <a:bodyPr/>
          <a:lstStyle/>
          <a:p>
            <a:r>
              <a:rPr lang="en-US" dirty="0"/>
              <a:t>MCP Healthcare </a:t>
            </a:r>
            <a:br>
              <a:rPr lang="en-US" dirty="0"/>
            </a:br>
            <a:r>
              <a:rPr lang="en-US" dirty="0"/>
              <a:t>Tech Assessment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825BA1-89C4-1351-91EE-D340C500E7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B3A75-F363-8049-B90B-39981882C5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23221" y="5955697"/>
            <a:ext cx="1866900" cy="166199"/>
          </a:xfrm>
        </p:spPr>
        <p:txBody>
          <a:bodyPr/>
          <a:lstStyle/>
          <a:p>
            <a:r>
              <a:rPr lang="en-US" dirty="0"/>
              <a:t>February 27,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9400-8D59-BAA5-DA07-9D40137C7E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23221" y="5641513"/>
            <a:ext cx="5257799" cy="221599"/>
          </a:xfrm>
        </p:spPr>
        <p:txBody>
          <a:bodyPr/>
          <a:lstStyle/>
          <a:p>
            <a:r>
              <a:rPr lang="en-US" dirty="0"/>
              <a:t>Noelle Fleury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9F7F7F-A85C-E518-C22E-01767E378DEB}"/>
              </a:ext>
            </a:extLst>
          </p:cNvPr>
          <p:cNvSpPr/>
          <p:nvPr/>
        </p:nvSpPr>
        <p:spPr>
          <a:xfrm>
            <a:off x="499621" y="5165889"/>
            <a:ext cx="1866900" cy="956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FB0E98-90F9-6649-AD43-80DE30FBB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21" y="5269899"/>
            <a:ext cx="4259943" cy="10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0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F23BB-189F-8417-0F3E-D6FDCB8C1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5232F5F-B353-954E-221A-30C9220AC399}"/>
              </a:ext>
            </a:extLst>
          </p:cNvPr>
          <p:cNvSpPr txBox="1">
            <a:spLocks/>
          </p:cNvSpPr>
          <p:nvPr/>
        </p:nvSpPr>
        <p:spPr>
          <a:xfrm>
            <a:off x="654270" y="1897118"/>
            <a:ext cx="3267011" cy="8103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Contents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108202-65B0-919C-7E77-0905DE87697A}"/>
              </a:ext>
            </a:extLst>
          </p:cNvPr>
          <p:cNvGrpSpPr/>
          <p:nvPr/>
        </p:nvGrpSpPr>
        <p:grpSpPr>
          <a:xfrm>
            <a:off x="4212832" y="2465621"/>
            <a:ext cx="4736153" cy="485340"/>
            <a:chOff x="4212832" y="2483447"/>
            <a:chExt cx="4736153" cy="485340"/>
          </a:xfrm>
        </p:grpSpPr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1AE76BE6-CF60-0AD5-2248-BAD497B49A38}"/>
                </a:ext>
              </a:extLst>
            </p:cNvPr>
            <p:cNvSpPr txBox="1">
              <a:spLocks/>
            </p:cNvSpPr>
            <p:nvPr/>
          </p:nvSpPr>
          <p:spPr>
            <a:xfrm>
              <a:off x="4753562" y="2483447"/>
              <a:ext cx="4195423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Salesforce API Requirements</a:t>
              </a:r>
            </a:p>
          </p:txBody>
        </p:sp>
        <p:sp>
          <p:nvSpPr>
            <p:cNvPr id="12" name="Text Placeholder 12">
              <a:extLst>
                <a:ext uri="{FF2B5EF4-FFF2-40B4-BE49-F238E27FC236}">
                  <a16:creationId xmlns:a16="http://schemas.microsoft.com/office/drawing/2014/main" id="{1888C227-EA32-A250-5C1E-F19EBFBC6D81}"/>
                </a:ext>
              </a:extLst>
            </p:cNvPr>
            <p:cNvSpPr txBox="1">
              <a:spLocks/>
            </p:cNvSpPr>
            <p:nvPr/>
          </p:nvSpPr>
          <p:spPr>
            <a:xfrm>
              <a:off x="4212832" y="2483447"/>
              <a:ext cx="405128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21E5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E235D5-D395-D568-9D75-D00D59333781}"/>
              </a:ext>
            </a:extLst>
          </p:cNvPr>
          <p:cNvCxnSpPr>
            <a:cxnSpLocks/>
          </p:cNvCxnSpPr>
          <p:nvPr/>
        </p:nvCxnSpPr>
        <p:spPr>
          <a:xfrm>
            <a:off x="3647090" y="1127232"/>
            <a:ext cx="0" cy="466092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EDEC4F8-A69F-2107-BF9D-207E82654BFE}"/>
              </a:ext>
            </a:extLst>
          </p:cNvPr>
          <p:cNvGrpSpPr/>
          <p:nvPr/>
        </p:nvGrpSpPr>
        <p:grpSpPr>
          <a:xfrm>
            <a:off x="4212832" y="1914033"/>
            <a:ext cx="4736153" cy="485340"/>
            <a:chOff x="4212832" y="1914033"/>
            <a:chExt cx="4736153" cy="485340"/>
          </a:xfrm>
        </p:grpSpPr>
        <p:sp>
          <p:nvSpPr>
            <p:cNvPr id="11" name="Text Placeholder 11">
              <a:extLst>
                <a:ext uri="{FF2B5EF4-FFF2-40B4-BE49-F238E27FC236}">
                  <a16:creationId xmlns:a16="http://schemas.microsoft.com/office/drawing/2014/main" id="{F01F5564-8A9B-F824-44CB-F3124D85A1A5}"/>
                </a:ext>
              </a:extLst>
            </p:cNvPr>
            <p:cNvSpPr txBox="1">
              <a:spLocks/>
            </p:cNvSpPr>
            <p:nvPr/>
          </p:nvSpPr>
          <p:spPr>
            <a:xfrm>
              <a:off x="4212832" y="1914033"/>
              <a:ext cx="405128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21E5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 Placeholder 3">
              <a:extLst>
                <a:ext uri="{FF2B5EF4-FFF2-40B4-BE49-F238E27FC236}">
                  <a16:creationId xmlns:a16="http://schemas.microsoft.com/office/drawing/2014/main" id="{2D08BBE0-D2EB-98C7-B060-E8E4B5D1EDB3}"/>
                </a:ext>
              </a:extLst>
            </p:cNvPr>
            <p:cNvSpPr txBox="1">
              <a:spLocks/>
            </p:cNvSpPr>
            <p:nvPr/>
          </p:nvSpPr>
          <p:spPr>
            <a:xfrm>
              <a:off x="4753562" y="1914033"/>
              <a:ext cx="4195423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b="1" dirty="0">
                  <a:solidFill>
                    <a:srgbClr val="000000"/>
                  </a:solidFill>
                  <a:latin typeface="Arial"/>
                </a:rPr>
                <a:t>Approach &amp; Background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B7089FC-2721-9321-7679-3172A785D26E}"/>
              </a:ext>
            </a:extLst>
          </p:cNvPr>
          <p:cNvGrpSpPr/>
          <p:nvPr/>
        </p:nvGrpSpPr>
        <p:grpSpPr>
          <a:xfrm>
            <a:off x="4212832" y="3017209"/>
            <a:ext cx="4736153" cy="485340"/>
            <a:chOff x="4212832" y="3008296"/>
            <a:chExt cx="4736153" cy="485340"/>
          </a:xfrm>
        </p:grpSpPr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63750810-9A2C-2163-79E1-60675A1CB63D}"/>
                </a:ext>
              </a:extLst>
            </p:cNvPr>
            <p:cNvSpPr txBox="1">
              <a:spLocks/>
            </p:cNvSpPr>
            <p:nvPr/>
          </p:nvSpPr>
          <p:spPr>
            <a:xfrm>
              <a:off x="4753562" y="3008296"/>
              <a:ext cx="4195423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Scope &amp; Requirements</a:t>
              </a:r>
            </a:p>
          </p:txBody>
        </p:sp>
        <p:sp>
          <p:nvSpPr>
            <p:cNvPr id="17" name="Text Placeholder 12">
              <a:extLst>
                <a:ext uri="{FF2B5EF4-FFF2-40B4-BE49-F238E27FC236}">
                  <a16:creationId xmlns:a16="http://schemas.microsoft.com/office/drawing/2014/main" id="{AE2B850B-7FF7-EB8C-B8B6-C4FC89E973A9}"/>
                </a:ext>
              </a:extLst>
            </p:cNvPr>
            <p:cNvSpPr txBox="1">
              <a:spLocks/>
            </p:cNvSpPr>
            <p:nvPr/>
          </p:nvSpPr>
          <p:spPr>
            <a:xfrm>
              <a:off x="4212832" y="3008296"/>
              <a:ext cx="405128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21E51"/>
                  </a:solidFill>
                  <a:latin typeface="Arial"/>
                </a:rPr>
                <a:t>3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0ECE953-8F06-7B42-93A8-C0055C5110EA}"/>
              </a:ext>
            </a:extLst>
          </p:cNvPr>
          <p:cNvGrpSpPr/>
          <p:nvPr/>
        </p:nvGrpSpPr>
        <p:grpSpPr>
          <a:xfrm>
            <a:off x="4212832" y="3568797"/>
            <a:ext cx="4736153" cy="485340"/>
            <a:chOff x="4212832" y="3494475"/>
            <a:chExt cx="4736153" cy="485340"/>
          </a:xfrm>
        </p:grpSpPr>
        <p:sp>
          <p:nvSpPr>
            <p:cNvPr id="20" name="Text Placeholder 3">
              <a:extLst>
                <a:ext uri="{FF2B5EF4-FFF2-40B4-BE49-F238E27FC236}">
                  <a16:creationId xmlns:a16="http://schemas.microsoft.com/office/drawing/2014/main" id="{EA829D75-C882-5A8E-4635-797439240C45}"/>
                </a:ext>
              </a:extLst>
            </p:cNvPr>
            <p:cNvSpPr txBox="1">
              <a:spLocks/>
            </p:cNvSpPr>
            <p:nvPr/>
          </p:nvSpPr>
          <p:spPr>
            <a:xfrm>
              <a:off x="4753562" y="3494475"/>
              <a:ext cx="4195423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Objectives &amp; Capabilities</a:t>
              </a:r>
            </a:p>
          </p:txBody>
        </p:sp>
        <p:sp>
          <p:nvSpPr>
            <p:cNvPr id="21" name="Text Placeholder 12">
              <a:extLst>
                <a:ext uri="{FF2B5EF4-FFF2-40B4-BE49-F238E27FC236}">
                  <a16:creationId xmlns:a16="http://schemas.microsoft.com/office/drawing/2014/main" id="{BAE3107F-D1E5-438C-621A-B7C7B12116F3}"/>
                </a:ext>
              </a:extLst>
            </p:cNvPr>
            <p:cNvSpPr txBox="1">
              <a:spLocks/>
            </p:cNvSpPr>
            <p:nvPr/>
          </p:nvSpPr>
          <p:spPr>
            <a:xfrm>
              <a:off x="4212832" y="3494475"/>
              <a:ext cx="405128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21E51"/>
                  </a:solidFill>
                  <a:latin typeface="Arial"/>
                </a:rPr>
                <a:t>4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DF55E96-1BCC-713C-7808-84D74BC483A4}"/>
              </a:ext>
            </a:extLst>
          </p:cNvPr>
          <p:cNvGrpSpPr/>
          <p:nvPr/>
        </p:nvGrpSpPr>
        <p:grpSpPr>
          <a:xfrm>
            <a:off x="4212832" y="4120385"/>
            <a:ext cx="4736153" cy="485340"/>
            <a:chOff x="4212832" y="4120752"/>
            <a:chExt cx="4736153" cy="485340"/>
          </a:xfrm>
        </p:grpSpPr>
        <p:sp>
          <p:nvSpPr>
            <p:cNvPr id="22" name="Text Placeholder 3">
              <a:extLst>
                <a:ext uri="{FF2B5EF4-FFF2-40B4-BE49-F238E27FC236}">
                  <a16:creationId xmlns:a16="http://schemas.microsoft.com/office/drawing/2014/main" id="{EF7E7F7A-F832-322B-1B76-94A31D8AA147}"/>
                </a:ext>
              </a:extLst>
            </p:cNvPr>
            <p:cNvSpPr txBox="1">
              <a:spLocks/>
            </p:cNvSpPr>
            <p:nvPr/>
          </p:nvSpPr>
          <p:spPr>
            <a:xfrm>
              <a:off x="4753562" y="4120752"/>
              <a:ext cx="4195423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Implementation with Salesforce</a:t>
              </a:r>
            </a:p>
          </p:txBody>
        </p:sp>
        <p:sp>
          <p:nvSpPr>
            <p:cNvPr id="23" name="Text Placeholder 12">
              <a:extLst>
                <a:ext uri="{FF2B5EF4-FFF2-40B4-BE49-F238E27FC236}">
                  <a16:creationId xmlns:a16="http://schemas.microsoft.com/office/drawing/2014/main" id="{CC71F3FE-974F-C3C3-3A3A-E9A275948455}"/>
                </a:ext>
              </a:extLst>
            </p:cNvPr>
            <p:cNvSpPr txBox="1">
              <a:spLocks/>
            </p:cNvSpPr>
            <p:nvPr/>
          </p:nvSpPr>
          <p:spPr>
            <a:xfrm>
              <a:off x="4212832" y="4120752"/>
              <a:ext cx="405128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21E51"/>
                  </a:solidFill>
                  <a:latin typeface="Arial"/>
                </a:rPr>
                <a:t>5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9DED2E-7BCB-92D7-9982-73DAF5B8BCC2}"/>
              </a:ext>
            </a:extLst>
          </p:cNvPr>
          <p:cNvGrpSpPr/>
          <p:nvPr/>
        </p:nvGrpSpPr>
        <p:grpSpPr>
          <a:xfrm>
            <a:off x="4212832" y="4671973"/>
            <a:ext cx="4736153" cy="485340"/>
            <a:chOff x="4212832" y="4671973"/>
            <a:chExt cx="4736153" cy="485340"/>
          </a:xfrm>
        </p:grpSpPr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A3CC9892-87EC-8241-0850-16201C961C2B}"/>
                </a:ext>
              </a:extLst>
            </p:cNvPr>
            <p:cNvSpPr txBox="1">
              <a:spLocks/>
            </p:cNvSpPr>
            <p:nvPr/>
          </p:nvSpPr>
          <p:spPr>
            <a:xfrm>
              <a:off x="4753562" y="4671973"/>
              <a:ext cx="4195423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Technical Decisions &amp; Trade-offs</a:t>
              </a:r>
            </a:p>
          </p:txBody>
        </p:sp>
        <p:sp>
          <p:nvSpPr>
            <p:cNvPr id="25" name="Text Placeholder 12">
              <a:extLst>
                <a:ext uri="{FF2B5EF4-FFF2-40B4-BE49-F238E27FC236}">
                  <a16:creationId xmlns:a16="http://schemas.microsoft.com/office/drawing/2014/main" id="{5EFF8C58-44B4-9EE9-E452-8140C83CE8E5}"/>
                </a:ext>
              </a:extLst>
            </p:cNvPr>
            <p:cNvSpPr txBox="1">
              <a:spLocks/>
            </p:cNvSpPr>
            <p:nvPr/>
          </p:nvSpPr>
          <p:spPr>
            <a:xfrm>
              <a:off x="4212832" y="4671973"/>
              <a:ext cx="405128" cy="48534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marR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dirty="0">
                  <a:solidFill>
                    <a:srgbClr val="021E51"/>
                  </a:solidFill>
                  <a:latin typeface="Arial"/>
                </a:rPr>
                <a:t>6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5307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0FFBD24A-C60E-F1AF-F174-F96AB1DB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&amp; Background</a:t>
            </a:r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0AA02FC5-5D2E-3BB2-B508-523AD0E5C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7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9C4F-8046-1951-E7E1-AFD8B826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D130D4E3-0B19-E595-F4B2-B76939AA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D3D0E7-2084-FEEE-0041-13D397F52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16BA899-FAFE-D608-5A16-7DDBFAEF59A2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FBF01A2C-6E74-5FD4-99E0-789DD4B65CD0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DACFCF08-D6E7-04EB-1491-468A1704960E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921B0AF4-BCC1-0353-39DE-722D31EB0E1C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ED253D9-885F-440E-D3A5-FFFDEF0FEA0F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Install and use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Claude 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to understand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C8F492CC-0237-9B5F-BEE1-56CF4E328AF0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5535BE82-EDDF-7BE4-10C1-7B28DAABD883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C89320BD-47E5-0AFE-75D5-CDCAD68C35E6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6B1A7D3C-0FA1-DE68-3EA8-3D0AF7FB5D82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319D6CF7-C614-3F60-E455-086068F0C362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E9EB9446-1191-A567-3C5A-D67FFE6426F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08D3508E-CA4B-2BFB-E448-419BA1E8F459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50D71EF4-EB3D-15D5-9B1E-DD739240BF8C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CF0D6C2E-4436-E0CD-DDB8-878CE557A48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DA222870-42AB-A0E5-9750-6B134FF1F06A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EE83012B-C1C0-8592-CA2E-D7CFE5E596FF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B1FE1424-9033-D6BA-C7A1-EEEB85505D55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CF2B0747-8F05-F206-B59A-E07EE6B21FF6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31A50A3A-49FC-E7E1-549C-C5B7AF6141A0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3676A781-04EF-4D2D-C11D-ED723C27A71F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14DE064E-3ACE-1E23-C6EB-2F2E9CEC945A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A4C43C-75A2-8732-19C9-113B9B2AA1B8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E3B8DA-58A0-7BF3-E692-02B547554625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6A42FFD-C64C-FBA0-FC69-B00D2CF55173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C90993-7765-3B4E-39B9-F03B79F370B0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F48474B-3931-23DD-B9AC-27E332309455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E11346-220A-7FB9-E2C5-1A523396DB27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Research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Salesforce API requirements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6651FD-6379-4567-B210-AD98230EDD7B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Establish clear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objectives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what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capabilities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358463-EF7F-D4DE-2AFF-A17B9106B86A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Implement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functionality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with at least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Salesforce functions.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0D203D-3ADE-8800-5776-ADF073558509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Define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requirements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scope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my MCP server implementation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Healthcare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BB1ADC-413A-9DD2-F1B3-B495A82A8D2D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DEAB47F2-AA86-C8B1-2E9A-2E720B7D5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6A3B068A-685A-2C1E-0EA2-F1E079F62A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D7ED813F-EB96-30E2-7300-6842F92823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A20EDA89-7B25-21FA-CA82-D9B2C26E4C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C5D8E103-DEE1-DCD7-0B36-21B900C5BA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52DEB5EF-790E-9F3C-5EB3-DE529F61FD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C0A4-E1E8-96BF-2A88-9A4294A7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F1907416-B14C-2A56-F4DC-FFE9F05F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Knowledge &amp;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6F980-DCA7-6808-89DC-17606421A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EA2AA52D-584A-BACA-C12C-18FAA7CCF609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Assessing Claude’s performance and user experience.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0E5C81-13FC-9D22-6374-A20B95046983}"/>
              </a:ext>
            </a:extLst>
          </p:cNvPr>
          <p:cNvGrpSpPr/>
          <p:nvPr/>
        </p:nvGrpSpPr>
        <p:grpSpPr>
          <a:xfrm>
            <a:off x="763072" y="1724430"/>
            <a:ext cx="2948653" cy="2668105"/>
            <a:chOff x="711314" y="1401472"/>
            <a:chExt cx="2948653" cy="26681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E06D3B-E841-B9D1-DA54-8F67C23D0EE9}"/>
                </a:ext>
              </a:extLst>
            </p:cNvPr>
            <p:cNvSpPr/>
            <p:nvPr/>
          </p:nvSpPr>
          <p:spPr>
            <a:xfrm>
              <a:off x="711513" y="1401472"/>
              <a:ext cx="2948454" cy="571481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UX/UI Interface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480534-6D3A-F640-2881-64E9941DBE8C}"/>
                </a:ext>
              </a:extLst>
            </p:cNvPr>
            <p:cNvSpPr/>
            <p:nvPr/>
          </p:nvSpPr>
          <p:spPr>
            <a:xfrm>
              <a:off x="711314" y="1981103"/>
              <a:ext cx="2948453" cy="208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37160" rIns="182880" bIns="182880" rtlCol="0" anchor="t"/>
            <a:lstStyle/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does it differ from other AI tools?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easy is it to upload and work alongside documents? 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 it handle multi-step conversations?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does it structure long outputs?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Does it encourage more detailed prompts?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285AC90-9AE4-1B89-E9EE-5D13D338601B}"/>
              </a:ext>
            </a:extLst>
          </p:cNvPr>
          <p:cNvGrpSpPr/>
          <p:nvPr/>
        </p:nvGrpSpPr>
        <p:grpSpPr>
          <a:xfrm>
            <a:off x="8352692" y="1461740"/>
            <a:ext cx="3125874" cy="2264552"/>
            <a:chOff x="8315438" y="929175"/>
            <a:chExt cx="3125874" cy="22645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FB3F48-DE41-F510-A82C-1062010B5DD2}"/>
                </a:ext>
              </a:extLst>
            </p:cNvPr>
            <p:cNvSpPr/>
            <p:nvPr/>
          </p:nvSpPr>
          <p:spPr>
            <a:xfrm>
              <a:off x="8315438" y="929175"/>
              <a:ext cx="3125874" cy="571481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Claude’s Answers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FEB9B8-92BE-1D14-7E31-B8176883DDDD}"/>
                </a:ext>
              </a:extLst>
            </p:cNvPr>
            <p:cNvSpPr/>
            <p:nvPr/>
          </p:nvSpPr>
          <p:spPr>
            <a:xfrm>
              <a:off x="8315438" y="1500656"/>
              <a:ext cx="3125873" cy="16930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37160" rIns="182880" bIns="182880" rtlCol="0" anchor="t"/>
            <a:lstStyle/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 it break down a complex problem step by step?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Does it ask clarifying questions?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Does it provide examples and/or analogies? 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detailed are the explanations compared to other AI?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1D1699-EEC1-7794-32AF-AF02E3894B1E}"/>
              </a:ext>
            </a:extLst>
          </p:cNvPr>
          <p:cNvGrpSpPr/>
          <p:nvPr/>
        </p:nvGrpSpPr>
        <p:grpSpPr>
          <a:xfrm>
            <a:off x="8352692" y="4067489"/>
            <a:ext cx="3125873" cy="2044553"/>
            <a:chOff x="8478354" y="3717564"/>
            <a:chExt cx="2953929" cy="204455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C1F93D-C26D-1CE1-AEE5-AC945CAE7C38}"/>
                </a:ext>
              </a:extLst>
            </p:cNvPr>
            <p:cNvSpPr/>
            <p:nvPr/>
          </p:nvSpPr>
          <p:spPr>
            <a:xfrm>
              <a:off x="8478354" y="3717564"/>
              <a:ext cx="2953929" cy="571481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Natural Language Communication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BE7947-6E77-FFA5-6514-04D04F7CFB06}"/>
                </a:ext>
              </a:extLst>
            </p:cNvPr>
            <p:cNvSpPr/>
            <p:nvPr/>
          </p:nvSpPr>
          <p:spPr>
            <a:xfrm>
              <a:off x="8480276" y="4289046"/>
              <a:ext cx="2948453" cy="14730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37160" rIns="182880" bIns="182880" rtlCol="0" anchor="t"/>
            <a:lstStyle/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Does it adapt to the tone of the user? 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 it simplify complex concepts without losing meaning?</a:t>
              </a:r>
            </a:p>
            <a:p>
              <a:pPr marL="171450" indent="-1714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natural does the conversation style feel? </a:t>
              </a:r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86DE1DA-968D-B3C6-F52A-CDEA109F6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2137571"/>
              </p:ext>
            </p:extLst>
          </p:nvPr>
        </p:nvGraphicFramePr>
        <p:xfrm>
          <a:off x="2712911" y="2070630"/>
          <a:ext cx="5726541" cy="3687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4" name="Straight Arrow Connector 10">
            <a:extLst>
              <a:ext uri="{FF2B5EF4-FFF2-40B4-BE49-F238E27FC236}">
                <a16:creationId xmlns:a16="http://schemas.microsoft.com/office/drawing/2014/main" id="{26612648-93EA-DEA9-D623-80C576976A22}"/>
              </a:ext>
            </a:extLst>
          </p:cNvPr>
          <p:cNvCxnSpPr>
            <a:cxnSpLocks/>
          </p:cNvCxnSpPr>
          <p:nvPr/>
        </p:nvCxnSpPr>
        <p:spPr>
          <a:xfrm rot="10800000">
            <a:off x="2237299" y="4388314"/>
            <a:ext cx="2538982" cy="250657"/>
          </a:xfrm>
          <a:prstGeom prst="bentConnector3">
            <a:avLst>
              <a:gd name="adj1" fmla="val 99807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0">
            <a:extLst>
              <a:ext uri="{FF2B5EF4-FFF2-40B4-BE49-F238E27FC236}">
                <a16:creationId xmlns:a16="http://schemas.microsoft.com/office/drawing/2014/main" id="{2D38C2EB-AF3D-51EF-12BD-51C7BE873FE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305550" y="1747481"/>
            <a:ext cx="2047142" cy="740077"/>
          </a:xfrm>
          <a:prstGeom prst="bent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0">
            <a:extLst>
              <a:ext uri="{FF2B5EF4-FFF2-40B4-BE49-F238E27FC236}">
                <a16:creationId xmlns:a16="http://schemas.microsoft.com/office/drawing/2014/main" id="{CBE0C632-D933-9F3B-6C39-4CCA914958CE}"/>
              </a:ext>
            </a:extLst>
          </p:cNvPr>
          <p:cNvCxnSpPr>
            <a:cxnSpLocks/>
          </p:cNvCxnSpPr>
          <p:nvPr/>
        </p:nvCxnSpPr>
        <p:spPr>
          <a:xfrm flipV="1">
            <a:off x="6893169" y="5199364"/>
            <a:ext cx="1457796" cy="462882"/>
          </a:xfrm>
          <a:prstGeom prst="bentConnector3">
            <a:avLst>
              <a:gd name="adj1" fmla="val 6468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Monitor with solid fill">
            <a:extLst>
              <a:ext uri="{FF2B5EF4-FFF2-40B4-BE49-F238E27FC236}">
                <a16:creationId xmlns:a16="http://schemas.microsoft.com/office/drawing/2014/main" id="{92770163-803C-0976-6645-DD3B2382C8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9756" y="3630932"/>
            <a:ext cx="739818" cy="758522"/>
          </a:xfrm>
          <a:prstGeom prst="rect">
            <a:avLst/>
          </a:prstGeom>
        </p:spPr>
      </p:pic>
      <p:pic>
        <p:nvPicPr>
          <p:cNvPr id="29" name="Graphic 28" descr="Web design with solid fill">
            <a:extLst>
              <a:ext uri="{FF2B5EF4-FFF2-40B4-BE49-F238E27FC236}">
                <a16:creationId xmlns:a16="http://schemas.microsoft.com/office/drawing/2014/main" id="{38C1E540-EA70-DC37-C466-F65CACBA87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22867" y="4279734"/>
            <a:ext cx="1016439" cy="1016439"/>
          </a:xfrm>
          <a:prstGeom prst="rect">
            <a:avLst/>
          </a:prstGeom>
        </p:spPr>
      </p:pic>
      <p:pic>
        <p:nvPicPr>
          <p:cNvPr id="31" name="Graphic 30" descr="Artificial Intelligence with solid fill">
            <a:extLst>
              <a:ext uri="{FF2B5EF4-FFF2-40B4-BE49-F238E27FC236}">
                <a16:creationId xmlns:a16="http://schemas.microsoft.com/office/drawing/2014/main" id="{5DEC1881-636B-F36C-4BFD-DBA351B841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03530" y="2582962"/>
            <a:ext cx="710274" cy="71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5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393BF-09E8-868C-A0ED-9BB5D8B7A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A2073D48-1017-8514-4832-E3A2B995E3AB}"/>
              </a:ext>
            </a:extLst>
          </p:cNvPr>
          <p:cNvSpPr/>
          <p:nvPr/>
        </p:nvSpPr>
        <p:spPr>
          <a:xfrm>
            <a:off x="656011" y="1649415"/>
            <a:ext cx="5270670" cy="1370754"/>
          </a:xfrm>
          <a:prstGeom prst="roundRect">
            <a:avLst>
              <a:gd name="adj" fmla="val 50000"/>
            </a:avLst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730CA789-E5A4-2A21-F79E-DF5F0156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299B8-7DAE-3855-7E36-2480EF0D4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59193DA-651E-902A-10B3-686B8B6757BB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272E5CA7-E005-47F4-115A-D072CF60EAB1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33E87129-7EA5-F000-8837-A1E8A70A8EC5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4BCA23E4-B2E9-3B28-38C5-DEF81E3F8BCC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DEC5869-93EA-C5EC-4B0F-37ABCFD52CC2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r>
              <a:rPr lang="en-US" dirty="0"/>
              <a:t>Install and use </a:t>
            </a:r>
            <a:r>
              <a:rPr lang="en-US" b="1" dirty="0"/>
              <a:t>Claude Code </a:t>
            </a:r>
            <a:r>
              <a:rPr lang="en-US" dirty="0"/>
              <a:t>to understand </a:t>
            </a:r>
            <a:r>
              <a:rPr lang="en-US" b="1" dirty="0"/>
              <a:t>MCP</a:t>
            </a:r>
            <a:r>
              <a:rPr lang="en-US" dirty="0"/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8A540326-C65B-4E96-0866-AE9A24CE5D61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AA698B7B-2BC2-080A-5197-DDA40A4D5517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6F14BCA0-A22A-7448-8603-9DF59F777BF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2D4A6E71-AEA1-9763-152A-52DAA92D46E5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E8DEF9DB-5F73-85DB-6391-BEAB14C027A9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483A064A-9DF6-231D-F170-90447731526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92EE73D8-4756-734F-C726-3800B9250999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CB2F615B-F4E2-8D8B-5FAA-E3909D5ACB6B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6985D8B2-3A68-3FEB-06CA-BB18ACA6CB17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2F472718-7F91-9CC8-3D24-9687C165E0C1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76224427-76A3-0381-1BAD-897181D11084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BB05B4AC-4C9B-3681-F287-69F4E8B13A7A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DE76F467-8F57-5A66-AB5E-857E87407152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004E402C-CDC3-D187-1424-0649FFE8E36F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28E9CF17-6B76-A8F2-C43F-EA6A7E3EBD1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337C374-3E70-9918-9BA1-E8212CA77961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23C8CC-32C3-68FF-C771-94FD2776408A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3D4CE5-0338-725D-4BBB-1C2A1E7880F6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F797D1-0571-9A4A-9133-FFA89DD20CB2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A2BE80-073D-3F02-79E3-913339AFEEBB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CDFA02-9B32-3F10-2216-D4C1CA04524F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4F26DD-717C-01B3-06B7-40E0BFB6E508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r>
              <a:rPr lang="en-US" dirty="0"/>
              <a:t>Research </a:t>
            </a:r>
            <a:r>
              <a:rPr lang="en-US" b="1" dirty="0"/>
              <a:t>Salesforce API requirements </a:t>
            </a:r>
            <a:r>
              <a:rPr lang="en-US" dirty="0"/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CF4C38-2B90-6E59-C2DB-F0E27C5A9AA4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r>
              <a:rPr lang="en-US" dirty="0"/>
              <a:t>Establish clear </a:t>
            </a:r>
            <a:r>
              <a:rPr lang="en-US" b="1" dirty="0"/>
              <a:t>objectives</a:t>
            </a:r>
            <a:r>
              <a:rPr lang="en-US" dirty="0"/>
              <a:t> for what </a:t>
            </a:r>
            <a:r>
              <a:rPr lang="en-US" b="1" dirty="0"/>
              <a:t>capabilities</a:t>
            </a:r>
            <a:r>
              <a:rPr lang="en-US" dirty="0"/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106709-C52D-5DA6-D383-2AD704782B0D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r>
              <a:rPr lang="en-US" dirty="0"/>
              <a:t>Implement </a:t>
            </a:r>
            <a:r>
              <a:rPr lang="en-US" b="1" dirty="0"/>
              <a:t>core</a:t>
            </a:r>
            <a:r>
              <a:rPr lang="en-US" dirty="0"/>
              <a:t> </a:t>
            </a:r>
            <a:r>
              <a:rPr lang="en-US" b="1" dirty="0"/>
              <a:t>MCP</a:t>
            </a:r>
            <a:r>
              <a:rPr lang="en-US" dirty="0"/>
              <a:t> </a:t>
            </a:r>
            <a:r>
              <a:rPr lang="en-US" b="1" dirty="0"/>
              <a:t>functionality</a:t>
            </a:r>
            <a:r>
              <a:rPr lang="en-US" dirty="0"/>
              <a:t> with at least </a:t>
            </a:r>
            <a:r>
              <a:rPr lang="en-US" b="1" dirty="0"/>
              <a:t>3</a:t>
            </a:r>
            <a:r>
              <a:rPr lang="en-US" dirty="0"/>
              <a:t> Salesforce functions. </a:t>
            </a:r>
            <a:endParaRPr 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7553E4-968D-B4C0-10AA-0BDDDDF81E57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r>
              <a:rPr lang="en-US" dirty="0"/>
              <a:t>Define </a:t>
            </a:r>
            <a:r>
              <a:rPr lang="en-US" b="1" dirty="0"/>
              <a:t>requirements</a:t>
            </a:r>
            <a:r>
              <a:rPr lang="en-US" dirty="0"/>
              <a:t> and </a:t>
            </a:r>
            <a:r>
              <a:rPr lang="en-US" b="1" dirty="0"/>
              <a:t>scope</a:t>
            </a:r>
            <a:r>
              <a:rPr lang="en-US" dirty="0"/>
              <a:t> for my MCP server implementation for </a:t>
            </a:r>
            <a:r>
              <a:rPr lang="en-US" b="1" dirty="0"/>
              <a:t>Healthcare</a:t>
            </a:r>
            <a:r>
              <a:rPr lang="en-US" dirty="0"/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D79F8C-629E-336B-9015-960EE4CE2734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lang="en-US" sz="1400" b="1" dirty="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lang="en-US" sz="1400" b="1" dirty="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4661ADFC-F18F-8151-BB13-7CFAABB39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8CBD9754-3722-D65E-264D-0F0145107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2184F4CC-BF61-7CAE-1C58-60E3B2BB7F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B6E69EBF-74EB-9E67-D4B5-C6A008C1F5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BE65D950-E543-8804-C006-F6C704BFF6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8F174004-9FEA-D77B-E844-A65613E321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2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06890-732B-2717-A6E3-A7CAF951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75F8D05D-5999-0398-2F4D-ED8E96C5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Claude’s Model Context Protocol (MCP)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1F66A-02EC-77D8-4027-01CA2EA96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E688C5A9-94EA-9F6A-1894-1702BCF444DB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From technical terms to tangible ideas.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02A9D9-1AF6-1014-C249-37C7C5F5BFFF}"/>
              </a:ext>
            </a:extLst>
          </p:cNvPr>
          <p:cNvSpPr/>
          <p:nvPr/>
        </p:nvSpPr>
        <p:spPr>
          <a:xfrm rot="16200000">
            <a:off x="986" y="3778761"/>
            <a:ext cx="1270018" cy="311285"/>
          </a:xfrm>
          <a:prstGeom prst="roundRect">
            <a:avLst/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Technical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E5EE07-0B7C-E5FE-220A-DB981F746DCB}"/>
              </a:ext>
            </a:extLst>
          </p:cNvPr>
          <p:cNvSpPr/>
          <p:nvPr/>
        </p:nvSpPr>
        <p:spPr>
          <a:xfrm rot="16200000">
            <a:off x="987" y="5378512"/>
            <a:ext cx="1270018" cy="311285"/>
          </a:xfrm>
          <a:prstGeom prst="roundRect">
            <a:avLst/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Analogy</a:t>
            </a:r>
          </a:p>
        </p:txBody>
      </p:sp>
      <p:sp>
        <p:nvSpPr>
          <p:cNvPr id="6" name="Rectangle: Rounded Corners 5">
            <a:hlinkClick r:id="" action="ppaction://noaction"/>
            <a:extLst>
              <a:ext uri="{FF2B5EF4-FFF2-40B4-BE49-F238E27FC236}">
                <a16:creationId xmlns:a16="http://schemas.microsoft.com/office/drawing/2014/main" id="{9811BEB4-1E2B-86A6-ABC4-800A4C605160}"/>
              </a:ext>
            </a:extLst>
          </p:cNvPr>
          <p:cNvSpPr/>
          <p:nvPr/>
        </p:nvSpPr>
        <p:spPr>
          <a:xfrm>
            <a:off x="893865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Knock on neighbor’s door</a:t>
            </a:r>
          </a:p>
        </p:txBody>
      </p:sp>
      <p:sp>
        <p:nvSpPr>
          <p:cNvPr id="7" name="Rectangle: Rounded Corners 6">
            <a:hlinkClick r:id="" action="ppaction://noaction"/>
            <a:extLst>
              <a:ext uri="{FF2B5EF4-FFF2-40B4-BE49-F238E27FC236}">
                <a16:creationId xmlns:a16="http://schemas.microsoft.com/office/drawing/2014/main" id="{38BCCB2D-006C-56FE-BA73-411F1C54E678}"/>
              </a:ext>
            </a:extLst>
          </p:cNvPr>
          <p:cNvSpPr/>
          <p:nvPr/>
        </p:nvSpPr>
        <p:spPr>
          <a:xfrm>
            <a:off x="2480557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Neighbor answers door</a:t>
            </a:r>
          </a:p>
        </p:txBody>
      </p:sp>
      <p:sp>
        <p:nvSpPr>
          <p:cNvPr id="8" name="Rectangle: Rounded Corners 7">
            <a:hlinkClick r:id="" action="ppaction://noaction"/>
            <a:extLst>
              <a:ext uri="{FF2B5EF4-FFF2-40B4-BE49-F238E27FC236}">
                <a16:creationId xmlns:a16="http://schemas.microsoft.com/office/drawing/2014/main" id="{D015D66A-7A17-E829-A0AB-A9DC89D2211B}"/>
              </a:ext>
            </a:extLst>
          </p:cNvPr>
          <p:cNvSpPr/>
          <p:nvPr/>
        </p:nvSpPr>
        <p:spPr>
          <a:xfrm>
            <a:off x="4067249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Stay on neighbor’s porch</a:t>
            </a:r>
          </a:p>
        </p:txBody>
      </p:sp>
      <p:sp>
        <p:nvSpPr>
          <p:cNvPr id="9" name="Rectangle: Rounded Corners 8">
            <a:hlinkClick r:id="" action="ppaction://noaction"/>
            <a:extLst>
              <a:ext uri="{FF2B5EF4-FFF2-40B4-BE49-F238E27FC236}">
                <a16:creationId xmlns:a16="http://schemas.microsoft.com/office/drawing/2014/main" id="{A2EF8FD8-5A5D-C5E2-5FE8-D6B3C71720FF}"/>
              </a:ext>
            </a:extLst>
          </p:cNvPr>
          <p:cNvSpPr/>
          <p:nvPr/>
        </p:nvSpPr>
        <p:spPr>
          <a:xfrm>
            <a:off x="5653941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Neighbor goes to kitchen</a:t>
            </a:r>
          </a:p>
        </p:txBody>
      </p:sp>
      <p:sp>
        <p:nvSpPr>
          <p:cNvPr id="10" name="Rectangle: Rounded Corners 9">
            <a:hlinkClick r:id="" action="ppaction://noaction"/>
            <a:extLst>
              <a:ext uri="{FF2B5EF4-FFF2-40B4-BE49-F238E27FC236}">
                <a16:creationId xmlns:a16="http://schemas.microsoft.com/office/drawing/2014/main" id="{B6DB0AF8-6B54-76C2-C770-A258D5784683}"/>
              </a:ext>
            </a:extLst>
          </p:cNvPr>
          <p:cNvSpPr/>
          <p:nvPr/>
        </p:nvSpPr>
        <p:spPr>
          <a:xfrm>
            <a:off x="7240633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Neighbor brings back only sugar</a:t>
            </a:r>
          </a:p>
        </p:txBody>
      </p:sp>
      <p:sp>
        <p:nvSpPr>
          <p:cNvPr id="11" name="Rectangle: Rounded Corners 10">
            <a:hlinkClick r:id="" action="ppaction://noaction"/>
            <a:extLst>
              <a:ext uri="{FF2B5EF4-FFF2-40B4-BE49-F238E27FC236}">
                <a16:creationId xmlns:a16="http://schemas.microsoft.com/office/drawing/2014/main" id="{B1A16F54-5722-0262-B74E-3D99160EC926}"/>
              </a:ext>
            </a:extLst>
          </p:cNvPr>
          <p:cNvSpPr/>
          <p:nvPr/>
        </p:nvSpPr>
        <p:spPr>
          <a:xfrm>
            <a:off x="8827325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Sugar is in an appropriate container</a:t>
            </a:r>
          </a:p>
        </p:txBody>
      </p:sp>
      <p:sp>
        <p:nvSpPr>
          <p:cNvPr id="12" name="Rectangle: Rounded Corners 11">
            <a:hlinkClick r:id="" action="ppaction://noaction"/>
            <a:extLst>
              <a:ext uri="{FF2B5EF4-FFF2-40B4-BE49-F238E27FC236}">
                <a16:creationId xmlns:a16="http://schemas.microsoft.com/office/drawing/2014/main" id="{05C9DC8E-78FB-D26C-909D-4D98E0B7FACF}"/>
              </a:ext>
            </a:extLst>
          </p:cNvPr>
          <p:cNvSpPr/>
          <p:nvPr/>
        </p:nvSpPr>
        <p:spPr>
          <a:xfrm>
            <a:off x="10414015" y="5045073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Receives cup of sugar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59D51D-576D-BD16-7008-00CA0ADA484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209202" y="5527445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042B3A-1BE2-04B7-0E74-2F3537E26BCB}"/>
              </a:ext>
            </a:extLst>
          </p:cNvPr>
          <p:cNvCxnSpPr/>
          <p:nvPr/>
        </p:nvCxnSpPr>
        <p:spPr>
          <a:xfrm>
            <a:off x="3795894" y="5527445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384E0C-AC98-E414-222B-EEDC9EDA2C0C}"/>
              </a:ext>
            </a:extLst>
          </p:cNvPr>
          <p:cNvCxnSpPr/>
          <p:nvPr/>
        </p:nvCxnSpPr>
        <p:spPr>
          <a:xfrm>
            <a:off x="5382586" y="5534155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C6E976-1059-35DE-BBF7-657DABDB9854}"/>
              </a:ext>
            </a:extLst>
          </p:cNvPr>
          <p:cNvCxnSpPr/>
          <p:nvPr/>
        </p:nvCxnSpPr>
        <p:spPr>
          <a:xfrm>
            <a:off x="6969278" y="5527445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BAF53C-888C-9B0A-A037-9C3AC16A02D2}"/>
              </a:ext>
            </a:extLst>
          </p:cNvPr>
          <p:cNvCxnSpPr/>
          <p:nvPr/>
        </p:nvCxnSpPr>
        <p:spPr>
          <a:xfrm>
            <a:off x="8555970" y="5534155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417FA0-8F95-4A4D-ECA7-8C21D5F9DE02}"/>
              </a:ext>
            </a:extLst>
          </p:cNvPr>
          <p:cNvCxnSpPr/>
          <p:nvPr/>
        </p:nvCxnSpPr>
        <p:spPr>
          <a:xfrm>
            <a:off x="10142662" y="5515867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hlinkClick r:id="" action="ppaction://noaction"/>
            <a:extLst>
              <a:ext uri="{FF2B5EF4-FFF2-40B4-BE49-F238E27FC236}">
                <a16:creationId xmlns:a16="http://schemas.microsoft.com/office/drawing/2014/main" id="{E017457C-6F68-6FDE-9E7F-9769E1624093}"/>
              </a:ext>
            </a:extLst>
          </p:cNvPr>
          <p:cNvSpPr/>
          <p:nvPr/>
        </p:nvSpPr>
        <p:spPr>
          <a:xfrm>
            <a:off x="898435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Claude makes a request to MCP server</a:t>
            </a:r>
          </a:p>
        </p:txBody>
      </p:sp>
      <p:sp>
        <p:nvSpPr>
          <p:cNvPr id="20" name="Rectangle: Rounded Corners 19">
            <a:hlinkClick r:id="" action="ppaction://noaction"/>
            <a:extLst>
              <a:ext uri="{FF2B5EF4-FFF2-40B4-BE49-F238E27FC236}">
                <a16:creationId xmlns:a16="http://schemas.microsoft.com/office/drawing/2014/main" id="{94504505-8C00-3767-FA59-AE7BECC6F5E1}"/>
              </a:ext>
            </a:extLst>
          </p:cNvPr>
          <p:cNvSpPr/>
          <p:nvPr/>
        </p:nvSpPr>
        <p:spPr>
          <a:xfrm>
            <a:off x="2485127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MCP server receives the request and knows how to handle it</a:t>
            </a:r>
          </a:p>
        </p:txBody>
      </p:sp>
      <p:sp>
        <p:nvSpPr>
          <p:cNvPr id="21" name="Rectangle: Rounded Corners 20">
            <a:hlinkClick r:id="" action="ppaction://noaction"/>
            <a:extLst>
              <a:ext uri="{FF2B5EF4-FFF2-40B4-BE49-F238E27FC236}">
                <a16:creationId xmlns:a16="http://schemas.microsoft.com/office/drawing/2014/main" id="{B219C577-1941-F582-9AA5-BB0299BFE505}"/>
              </a:ext>
            </a:extLst>
          </p:cNvPr>
          <p:cNvSpPr/>
          <p:nvPr/>
        </p:nvSpPr>
        <p:spPr>
          <a:xfrm>
            <a:off x="4071819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MCP server checks for valid access and authentication</a:t>
            </a:r>
          </a:p>
        </p:txBody>
      </p:sp>
      <p:sp>
        <p:nvSpPr>
          <p:cNvPr id="22" name="Rectangle: Rounded Corners 21">
            <a:hlinkClick r:id="" action="ppaction://noaction"/>
            <a:extLst>
              <a:ext uri="{FF2B5EF4-FFF2-40B4-BE49-F238E27FC236}">
                <a16:creationId xmlns:a16="http://schemas.microsoft.com/office/drawing/2014/main" id="{C3EAA64B-3371-8AB5-4DA2-EAAC2808C42E}"/>
              </a:ext>
            </a:extLst>
          </p:cNvPr>
          <p:cNvSpPr/>
          <p:nvPr/>
        </p:nvSpPr>
        <p:spPr>
          <a:xfrm>
            <a:off x="5658511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MCP makes API call to Salesforce on Claude’s behalf </a:t>
            </a:r>
          </a:p>
        </p:txBody>
      </p:sp>
      <p:sp>
        <p:nvSpPr>
          <p:cNvPr id="23" name="Rectangle: Rounded Corners 22">
            <a:hlinkClick r:id="" action="ppaction://noaction"/>
            <a:extLst>
              <a:ext uri="{FF2B5EF4-FFF2-40B4-BE49-F238E27FC236}">
                <a16:creationId xmlns:a16="http://schemas.microsoft.com/office/drawing/2014/main" id="{C7940CB6-BB34-2554-3362-3AF44AC4ED1E}"/>
              </a:ext>
            </a:extLst>
          </p:cNvPr>
          <p:cNvSpPr/>
          <p:nvPr/>
        </p:nvSpPr>
        <p:spPr>
          <a:xfrm>
            <a:off x="7245203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Salesforce returns materials</a:t>
            </a:r>
          </a:p>
        </p:txBody>
      </p:sp>
      <p:sp>
        <p:nvSpPr>
          <p:cNvPr id="24" name="Rectangle: Rounded Corners 23">
            <a:hlinkClick r:id="" action="ppaction://noaction"/>
            <a:extLst>
              <a:ext uri="{FF2B5EF4-FFF2-40B4-BE49-F238E27FC236}">
                <a16:creationId xmlns:a16="http://schemas.microsoft.com/office/drawing/2014/main" id="{FB5451CD-0D6D-9186-0041-F7A384F766CA}"/>
              </a:ext>
            </a:extLst>
          </p:cNvPr>
          <p:cNvSpPr/>
          <p:nvPr/>
        </p:nvSpPr>
        <p:spPr>
          <a:xfrm>
            <a:off x="8831895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MCP server formats the response</a:t>
            </a:r>
          </a:p>
        </p:txBody>
      </p:sp>
      <p:sp>
        <p:nvSpPr>
          <p:cNvPr id="25" name="Rectangle: Rounded Corners 24">
            <a:hlinkClick r:id="" action="ppaction://noaction"/>
            <a:extLst>
              <a:ext uri="{FF2B5EF4-FFF2-40B4-BE49-F238E27FC236}">
                <a16:creationId xmlns:a16="http://schemas.microsoft.com/office/drawing/2014/main" id="{4C837EBB-4D68-01F9-7DC0-F389909F6121}"/>
              </a:ext>
            </a:extLst>
          </p:cNvPr>
          <p:cNvSpPr/>
          <p:nvPr/>
        </p:nvSpPr>
        <p:spPr>
          <a:xfrm>
            <a:off x="10418585" y="3452032"/>
            <a:ext cx="1315337" cy="964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000" kern="0" dirty="0">
                <a:solidFill>
                  <a:schemeClr val="tx2"/>
                </a:solidFill>
                <a:latin typeface="Arial"/>
              </a:rPr>
              <a:t>Claude delivers the answer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3BFB8A-CDA0-6789-347A-CBBFC6081F39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2213772" y="3934404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33D9165-C19B-D925-8988-C97F59E46FA6}"/>
              </a:ext>
            </a:extLst>
          </p:cNvPr>
          <p:cNvCxnSpPr/>
          <p:nvPr/>
        </p:nvCxnSpPr>
        <p:spPr>
          <a:xfrm>
            <a:off x="3800464" y="3934404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DEEAFB-052C-419B-FC00-9DC8FCA9741B}"/>
              </a:ext>
            </a:extLst>
          </p:cNvPr>
          <p:cNvCxnSpPr/>
          <p:nvPr/>
        </p:nvCxnSpPr>
        <p:spPr>
          <a:xfrm>
            <a:off x="5387156" y="3941114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B151AA-D8F4-182D-9704-0C30F74321CB}"/>
              </a:ext>
            </a:extLst>
          </p:cNvPr>
          <p:cNvCxnSpPr/>
          <p:nvPr/>
        </p:nvCxnSpPr>
        <p:spPr>
          <a:xfrm>
            <a:off x="6973848" y="3934404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6A93F7-6657-5259-5EC9-F224147CD821}"/>
              </a:ext>
            </a:extLst>
          </p:cNvPr>
          <p:cNvCxnSpPr/>
          <p:nvPr/>
        </p:nvCxnSpPr>
        <p:spPr>
          <a:xfrm>
            <a:off x="8560540" y="3941114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F9DA19-104C-ACA5-FC8E-D02282A45DA6}"/>
              </a:ext>
            </a:extLst>
          </p:cNvPr>
          <p:cNvCxnSpPr/>
          <p:nvPr/>
        </p:nvCxnSpPr>
        <p:spPr>
          <a:xfrm>
            <a:off x="10147232" y="3922826"/>
            <a:ext cx="2713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F747E9-2EB4-DDCB-33C7-DC6EEE617D5B}"/>
              </a:ext>
            </a:extLst>
          </p:cNvPr>
          <p:cNvCxnSpPr>
            <a:cxnSpLocks/>
          </p:cNvCxnSpPr>
          <p:nvPr/>
        </p:nvCxnSpPr>
        <p:spPr>
          <a:xfrm flipH="1">
            <a:off x="548035" y="4726534"/>
            <a:ext cx="1105702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749C476-7F3F-206A-61FD-D5E94358A002}"/>
              </a:ext>
            </a:extLst>
          </p:cNvPr>
          <p:cNvSpPr/>
          <p:nvPr/>
        </p:nvSpPr>
        <p:spPr>
          <a:xfrm>
            <a:off x="704087" y="1581471"/>
            <a:ext cx="10811256" cy="145472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ysClr val="windowText" lastClr="000000"/>
                </a:solidFill>
              </a:rPr>
              <a:t>MCP is like asking your neighbor for a cup of sugar. </a:t>
            </a:r>
          </a:p>
          <a:p>
            <a:endParaRPr lang="en-US" sz="1400" b="1" dirty="0">
              <a:solidFill>
                <a:sysClr val="windowText" lastClr="000000"/>
              </a:solidFill>
            </a:endParaRPr>
          </a:p>
          <a:p>
            <a:r>
              <a:rPr lang="en-US" sz="1400" dirty="0">
                <a:solidFill>
                  <a:sysClr val="windowText" lastClr="000000"/>
                </a:solidFill>
              </a:rPr>
              <a:t>I knock on their door and ask for a sugar. They retrieve the sugar from inside their home and deliver it. I stay on their porch and remain outside without access to their home, kitchen, or other belongings. Similarly, MCP enables Claude to request specific information from a system without direct access to the entire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6594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6054-ADAC-0D35-8FD7-61098AE1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7450F64C-7B47-6190-3D30-B0A9E4AD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Salesforce Requirements</a:t>
            </a:r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BFF35CE4-FDE3-28F4-00F4-45E306371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47DFA6-F3AD-8E51-5BFC-AE30521FD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4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8EC5-F292-8BDE-EA77-40942932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C6568922-9065-5601-6C83-969A821B2A3C}"/>
              </a:ext>
            </a:extLst>
          </p:cNvPr>
          <p:cNvSpPr/>
          <p:nvPr/>
        </p:nvSpPr>
        <p:spPr>
          <a:xfrm>
            <a:off x="640020" y="3060209"/>
            <a:ext cx="5270670" cy="1370754"/>
          </a:xfrm>
          <a:prstGeom prst="roundRect">
            <a:avLst>
              <a:gd name="adj" fmla="val 50000"/>
            </a:avLst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204CFB8C-6F62-7BD1-120F-E8E8DD8C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802341-6CC6-9FE5-D152-6993AEB75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663E605-0313-3469-E099-F677B01D30FE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DF48323D-F38B-987A-A6F2-D696B5B5F7D7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9D51048E-F45D-1811-6784-7519994366E9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7EF50EFE-C1F7-D076-EB9D-4375EF75B91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406CE48-17CC-B3B3-3E5A-FEC4F165CADD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Install and use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Claude 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to understand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DC6193DA-3B40-9883-D816-9088559E9F3C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7A82B370-DC5C-5DCF-B2DC-3133ED216A81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04B82C0B-72DB-A9D2-2B5D-FB221BF3416D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4F63E208-5723-FA48-95CD-2F694B2F36D2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F24562F7-E124-5AD4-0BF6-77338777DB12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84C95886-6553-0468-9E1F-04B023FFBAB0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88A517E1-4200-8C60-98D5-945CE0FAAA63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FD9C7264-FEC6-18D3-6AAC-57474109E0B7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3B22167C-6412-E492-3F0B-B99C39F47B6B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3888526D-5A83-9333-AE44-8496387785AB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30DE515F-EECA-72D6-0883-5C3DDF8229F9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96EE0E56-1DAF-1209-AAC6-2ECC51D81FA3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9CA39965-5E3A-4541-F299-81FE2B58BDE9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0B5105D3-AC0E-F51B-F993-43041C44C22A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2A61F798-84A8-CDD1-27B0-4BEC33E51CAE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2F38DD0D-F049-32F1-36C9-4681B22448B7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0973196-9A23-57BC-09CE-6BCA54714C82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99F083-A5EB-66A8-E281-29B54C4A8E9E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146D528-C78F-D97B-A155-8E56EE57D116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C36C4EE-DDFB-6BEB-EFD9-BAC9E8413FF6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91F1433-04B7-FA25-416E-4F06BA76F590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658C8D-27D5-1221-DF0C-87CEF7A3E624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Research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Salesforce API requirements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D9FEC-1115-18A0-631E-36A86869BAE5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Establish clear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objectives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what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capabilities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B221B6-90AB-0463-2350-E64E81CCE284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Implement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functionality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with at least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Salesforce functions.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82EC7-E258-7E71-0BF6-75B08313D37D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Define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requirements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scope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my MCP server implementation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Healthcare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C068D9-2D83-E50E-02D7-5CB2E1E5A957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3F6756F8-43E0-5919-803F-293E81896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679B3480-4E98-9AC1-3A60-785ADD4CCB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D131425B-9E9A-A70D-E9C9-62EDD075E6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34C43F78-F37F-4B02-CD7F-EA23757F86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DF716C97-4831-331B-75AF-623AE2C0DD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CAB6A18B-5A08-72AB-5008-52A6AF1895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0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D93A-ABEB-4A29-9A8E-ED9FCDB3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AEA18365-9E3F-6A66-3A41-F6136B48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Salesforce API Requirements &amp; Authentication</a:t>
            </a:r>
          </a:p>
        </p:txBody>
      </p:sp>
      <p:sp>
        <p:nvSpPr>
          <p:cNvPr id="451" name="Text Placeholder 450">
            <a:extLst>
              <a:ext uri="{FF2B5EF4-FFF2-40B4-BE49-F238E27FC236}">
                <a16:creationId xmlns:a16="http://schemas.microsoft.com/office/drawing/2014/main" id="{57919B7E-BA72-C66E-3A27-E81AA676F2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944" y="5722441"/>
            <a:ext cx="10820399" cy="566309"/>
          </a:xfrm>
        </p:spPr>
        <p:txBody>
          <a:bodyPr anchor="ctr"/>
          <a:lstStyle/>
          <a:p>
            <a:r>
              <a:rPr lang="en-US" i="1" dirty="0"/>
              <a:t>For the purpose of this technical assessment, it is best to use REST API, Username-Password flow, and ensure that authentication uses OAuth 2.0 via a Connected App.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0A500F-BA56-D727-9447-47A5E5A99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2148719-49C3-5571-9738-F38EF74F46D3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sz="1600" i="1" dirty="0">
                <a:solidFill>
                  <a:srgbClr val="63666A"/>
                </a:solidFill>
                <a:latin typeface="Arial" panose="020B0604020202020204"/>
              </a:rPr>
              <a:t>Understanding versioning, limits, SOQL, and authentication. 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3">
            <a:extLst>
              <a:ext uri="{FF2B5EF4-FFF2-40B4-BE49-F238E27FC236}">
                <a16:creationId xmlns:a16="http://schemas.microsoft.com/office/drawing/2014/main" id="{84C2D975-4968-F576-0D12-C23C5900EC79}"/>
              </a:ext>
            </a:extLst>
          </p:cNvPr>
          <p:cNvSpPr txBox="1">
            <a:spLocks/>
          </p:cNvSpPr>
          <p:nvPr/>
        </p:nvSpPr>
        <p:spPr>
          <a:xfrm>
            <a:off x="1715555" y="1990725"/>
            <a:ext cx="3406753" cy="92829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Salesforce releases updates three times a year.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dirty="0">
                <a:latin typeface="+mj-lt"/>
              </a:rPr>
              <a:t>Version their API accordingly.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dirty="0">
                <a:latin typeface="+mj-lt"/>
              </a:rPr>
              <a:t>Different types of API (REST, SOAP, etc.)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b="1" dirty="0">
                <a:latin typeface="+mj-lt"/>
              </a:rPr>
              <a:t>Engineer: </a:t>
            </a:r>
            <a:r>
              <a:rPr lang="en-US" sz="1100" dirty="0">
                <a:latin typeface="+mj-lt"/>
              </a:rPr>
              <a:t>Use the latest version.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b="1" dirty="0">
                <a:latin typeface="+mj-lt"/>
              </a:rPr>
              <a:t>Consultant: </a:t>
            </a:r>
            <a:r>
              <a:rPr lang="en-US" sz="1100" dirty="0">
                <a:latin typeface="+mj-lt"/>
              </a:rPr>
              <a:t>Develop a versioning strategy.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5" name="Text Placeholder 33">
            <a:extLst>
              <a:ext uri="{FF2B5EF4-FFF2-40B4-BE49-F238E27FC236}">
                <a16:creationId xmlns:a16="http://schemas.microsoft.com/office/drawing/2014/main" id="{D9082637-9C88-90EB-9204-6DBD74BF5450}"/>
              </a:ext>
            </a:extLst>
          </p:cNvPr>
          <p:cNvSpPr txBox="1">
            <a:spLocks/>
          </p:cNvSpPr>
          <p:nvPr/>
        </p:nvSpPr>
        <p:spPr>
          <a:xfrm>
            <a:off x="1715555" y="1649415"/>
            <a:ext cx="3406753" cy="425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</a:rPr>
              <a:t>API Versioning</a:t>
            </a:r>
          </a:p>
        </p:txBody>
      </p:sp>
      <p:sp>
        <p:nvSpPr>
          <p:cNvPr id="6" name="Text Placeholder 33">
            <a:extLst>
              <a:ext uri="{FF2B5EF4-FFF2-40B4-BE49-F238E27FC236}">
                <a16:creationId xmlns:a16="http://schemas.microsoft.com/office/drawing/2014/main" id="{87562CD1-8CAF-3B83-A24D-FC8F6012392E}"/>
              </a:ext>
            </a:extLst>
          </p:cNvPr>
          <p:cNvSpPr txBox="1">
            <a:spLocks/>
          </p:cNvSpPr>
          <p:nvPr/>
        </p:nvSpPr>
        <p:spPr>
          <a:xfrm>
            <a:off x="1715555" y="3555527"/>
            <a:ext cx="3406753" cy="184332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Salesforce limits how many API calls an organization can make per day.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dirty="0">
                <a:latin typeface="+mj-lt"/>
              </a:rPr>
              <a:t>Typical enterprise gets around 100,000 calls per day.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Engineer: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Limit chatty calls and use bulk APIs.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b="1" dirty="0">
                <a:latin typeface="+mj-lt"/>
              </a:rPr>
              <a:t>Consultant: </a:t>
            </a:r>
            <a:r>
              <a:rPr lang="en-US" sz="1100" dirty="0">
                <a:latin typeface="+mj-lt"/>
              </a:rPr>
              <a:t>Estimate project API volume during design phase and utilize governance strategy.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7" name="Text Placeholder 33">
            <a:extLst>
              <a:ext uri="{FF2B5EF4-FFF2-40B4-BE49-F238E27FC236}">
                <a16:creationId xmlns:a16="http://schemas.microsoft.com/office/drawing/2014/main" id="{DB309758-FC29-35FD-D369-69C5627BFD35}"/>
              </a:ext>
            </a:extLst>
          </p:cNvPr>
          <p:cNvSpPr txBox="1">
            <a:spLocks/>
          </p:cNvSpPr>
          <p:nvPr/>
        </p:nvSpPr>
        <p:spPr>
          <a:xfrm>
            <a:off x="1715555" y="3214217"/>
            <a:ext cx="3406753" cy="425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</a:rPr>
              <a:t>API Call Limits</a:t>
            </a:r>
          </a:p>
        </p:txBody>
      </p:sp>
      <p:sp>
        <p:nvSpPr>
          <p:cNvPr id="8" name="Text Placeholder 33">
            <a:extLst>
              <a:ext uri="{FF2B5EF4-FFF2-40B4-BE49-F238E27FC236}">
                <a16:creationId xmlns:a16="http://schemas.microsoft.com/office/drawing/2014/main" id="{34B537BC-F33D-1D03-02E1-9D013F9BBE01}"/>
              </a:ext>
            </a:extLst>
          </p:cNvPr>
          <p:cNvSpPr txBox="1">
            <a:spLocks/>
          </p:cNvSpPr>
          <p:nvPr/>
        </p:nvSpPr>
        <p:spPr>
          <a:xfrm>
            <a:off x="7002152" y="1990725"/>
            <a:ext cx="3406753" cy="11387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Salesforce’s own query language – SOQL.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This can affect how queries usually look compared to other programming languages.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b="1" dirty="0">
                <a:latin typeface="+mj-lt"/>
              </a:rPr>
              <a:t>Engineer: </a:t>
            </a:r>
            <a:r>
              <a:rPr lang="en-US" sz="1100" dirty="0">
                <a:latin typeface="+mj-lt"/>
              </a:rPr>
              <a:t>Use the query language responsibly.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Consultant: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Consider how SOQL behaves at scale.</a:t>
            </a:r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19E80ADC-EFF6-CC3C-E5B2-47DF616A5EAD}"/>
              </a:ext>
            </a:extLst>
          </p:cNvPr>
          <p:cNvSpPr txBox="1">
            <a:spLocks/>
          </p:cNvSpPr>
          <p:nvPr/>
        </p:nvSpPr>
        <p:spPr>
          <a:xfrm>
            <a:off x="7002152" y="1649415"/>
            <a:ext cx="3406753" cy="425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</a:rPr>
              <a:t>Salesforce Query Language</a:t>
            </a:r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38A47062-C193-1C37-A621-E42556FACBCF}"/>
              </a:ext>
            </a:extLst>
          </p:cNvPr>
          <p:cNvSpPr txBox="1">
            <a:spLocks/>
          </p:cNvSpPr>
          <p:nvPr/>
        </p:nvSpPr>
        <p:spPr>
          <a:xfrm>
            <a:off x="7002152" y="3555527"/>
            <a:ext cx="3747497" cy="863373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Need permission to call Salesforce (OAuth 2.0).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dirty="0">
                <a:latin typeface="+mj-lt"/>
              </a:rPr>
              <a:t>Create a Connected App to register MCP with Salesforce.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Different flows for demo vs prod.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Engineer: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Ensure correct flow usage of demo vs. prod.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100" b="1" dirty="0">
                <a:latin typeface="+mj-lt"/>
              </a:rPr>
              <a:t>Consultant: </a:t>
            </a:r>
            <a:r>
              <a:rPr lang="en-US" sz="1100" dirty="0">
                <a:latin typeface="+mj-lt"/>
              </a:rPr>
              <a:t>Escalate any authorization limitations engineers experience.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E6BAD1-ADFB-1FB6-DF18-DFBD11C9DAFF}"/>
              </a:ext>
            </a:extLst>
          </p:cNvPr>
          <p:cNvSpPr txBox="1">
            <a:spLocks/>
          </p:cNvSpPr>
          <p:nvPr/>
        </p:nvSpPr>
        <p:spPr>
          <a:xfrm>
            <a:off x="7002152" y="3214217"/>
            <a:ext cx="3406753" cy="425502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</a:rPr>
              <a:t>Authentication</a:t>
            </a:r>
          </a:p>
        </p:txBody>
      </p:sp>
      <p:pic>
        <p:nvPicPr>
          <p:cNvPr id="17" name="Graphic 16" descr="Warning with solid fill">
            <a:extLst>
              <a:ext uri="{FF2B5EF4-FFF2-40B4-BE49-F238E27FC236}">
                <a16:creationId xmlns:a16="http://schemas.microsoft.com/office/drawing/2014/main" id="{008EE1F2-8661-BE29-3B34-A0131F1C0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890" y="3231721"/>
            <a:ext cx="647612" cy="647612"/>
          </a:xfrm>
          <a:prstGeom prst="rect">
            <a:avLst/>
          </a:prstGeom>
        </p:spPr>
      </p:pic>
      <p:pic>
        <p:nvPicPr>
          <p:cNvPr id="19" name="Graphic 18" descr="Circles with arrows with solid fill">
            <a:extLst>
              <a:ext uri="{FF2B5EF4-FFF2-40B4-BE49-F238E27FC236}">
                <a16:creationId xmlns:a16="http://schemas.microsoft.com/office/drawing/2014/main" id="{3E3A8A57-39A9-BB07-8F0B-3CA809967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890" y="1610332"/>
            <a:ext cx="647612" cy="647612"/>
          </a:xfrm>
          <a:prstGeom prst="rect">
            <a:avLst/>
          </a:prstGeom>
        </p:spPr>
      </p:pic>
      <p:pic>
        <p:nvPicPr>
          <p:cNvPr id="21" name="Graphic 20" descr="Lock with solid fill">
            <a:extLst>
              <a:ext uri="{FF2B5EF4-FFF2-40B4-BE49-F238E27FC236}">
                <a16:creationId xmlns:a16="http://schemas.microsoft.com/office/drawing/2014/main" id="{21C1742B-DFB5-2F31-8F72-2A1C34F845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9806" y="3270593"/>
            <a:ext cx="647612" cy="647612"/>
          </a:xfrm>
          <a:prstGeom prst="rect">
            <a:avLst/>
          </a:prstGeom>
        </p:spPr>
      </p:pic>
      <p:pic>
        <p:nvPicPr>
          <p:cNvPr id="23" name="Graphic 22" descr="Web design with solid fill">
            <a:extLst>
              <a:ext uri="{FF2B5EF4-FFF2-40B4-BE49-F238E27FC236}">
                <a16:creationId xmlns:a16="http://schemas.microsoft.com/office/drawing/2014/main" id="{A1F9EE5D-A3C7-2FA5-3FAF-9B5E908377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9806" y="1644573"/>
            <a:ext cx="647612" cy="64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4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2E0C-1B7A-05CC-5FBA-8AFA69DE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3CD4E7F0-B23D-C4E7-5E54-B2550DF7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Requirements</a:t>
            </a:r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22E71D6C-904E-4531-E6E1-82DBD3382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04624-6D73-E6FE-88BA-08F8BD06B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2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09648-5C31-0A4F-06A2-1AEC1223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1A6B5BCD-E03D-BDD1-DF62-050537E17C70}"/>
              </a:ext>
            </a:extLst>
          </p:cNvPr>
          <p:cNvSpPr/>
          <p:nvPr/>
        </p:nvSpPr>
        <p:spPr>
          <a:xfrm>
            <a:off x="640020" y="4475158"/>
            <a:ext cx="5270670" cy="1370754"/>
          </a:xfrm>
          <a:prstGeom prst="roundRect">
            <a:avLst>
              <a:gd name="adj" fmla="val 50000"/>
            </a:avLst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0F2E68F7-B7D3-EDC9-0AA7-44C90F04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5745F-AA78-7D19-A69D-A14E83B6B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E6C0EC7-32A7-9DEF-EC74-788D7101B11C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8BA8B73C-38C4-E658-D17C-82B7A10628FC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0535D252-625D-7D23-BF38-5D8B925141DF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FC346695-848C-B9B5-7FC7-03D39293F146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7CFA9DB-CC01-EEA0-2E6A-1FCCEF67A914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Install and use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Claude 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to understand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1651F103-AF16-F8E7-E6C0-9289A38E0C7B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B94F774F-DC6C-EC92-1942-9E46194C2853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2D76454A-FA71-F160-B520-0EBB5C5CB65C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D3E3D245-9B3C-F36A-89B3-7EEBE0DD6A4A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5DFFA525-36E7-269E-FF43-B64631AB58AE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96718E95-989E-8609-94CD-D2E47B51E800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61349045-8E01-B8C3-7594-B013C4B2D0E5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6CE0588A-41C3-3038-F653-F61360A002FD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2D8F87B5-5BE3-6287-8163-D420456D42EE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836E463E-25EE-DD97-5EB0-831986733386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9F4665AA-3C41-AA64-EA13-7B31B4C3BD4D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2ABABE39-0568-2265-0F4B-615C93D9C8FC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92B42B2B-E9BE-D61D-29B2-0091D0DD24EA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E9A1CF44-B76F-B6D3-5519-D3EDC1D3452F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7614B298-9126-C715-7F4B-A81FACBF5CA0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79EA3DC-46C5-68B3-7538-292F4AFE37F2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10C92F-7BF3-3E44-7805-6780C6BBCB66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7D10B9-5319-5151-1110-943411939B41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32A1B8-F242-2898-231A-F44B5E250066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E4D7C3-C73C-FAC3-6B19-E6284CBEE7FD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C1E1A5-21A0-4DE2-F3C2-3D52323424BB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713248-34EF-F94F-9ACF-0983EE976DC2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Research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Salesforce API requirements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D47FE7-ACB5-17F4-3198-FA788CD271F1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Establish clear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objectives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what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capabilities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FAEB43-7D2E-6444-1400-4E3B037B5D18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Implement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functionality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with at least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Salesforce functions.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17FD22-86E9-47C5-DF26-3403956EBDAF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Define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requirements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scope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my MCP server implementation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Healthcare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F17556-A216-AAA7-3D5A-D85FA2CE8767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1F61F668-4BC8-118B-0F22-8990D66C8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2AD9F3FD-FD0C-ED09-3C2C-0650968FC1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E79B1592-86BD-CC58-5AD3-3707E68C19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206DBC9D-ADA4-E510-AAAE-084D6728BD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3D25F58E-9851-3E3E-12E0-0EB75EAB24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A66375D7-0C40-203B-5D29-A7CAE994DF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31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388E-80AC-DD36-C174-8FAC3833F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B93E03DB-8DF0-0BF4-6C07-2A8AA1D8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Consultant Mindset &amp; Healthcare Background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79D2E-FE58-01FD-E337-C4D799BF1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EBD8DC2-7CF0-20CB-A4FB-E476BF198059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How to approach the healthcare industry as a consultant. </a:t>
            </a: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F4E6C00E-03F9-7B86-BC66-8DEC05A6B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87" y="1556996"/>
            <a:ext cx="3083050" cy="240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91440" rIns="91440" bIns="91440">
            <a:no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lvl="0" algn="ctr"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600" b="1" dirty="0">
                <a:solidFill>
                  <a:srgbClr val="021E51"/>
                </a:solidFill>
                <a:latin typeface="Arial" panose="020B0604020202020204"/>
                <a:cs typeface="Lato Regular"/>
              </a:rPr>
              <a:t>Who are we working with?</a:t>
            </a:r>
            <a:endParaRPr kumimoji="0" lang="en-US" sz="1600" b="1" i="0" strike="noStrike" kern="1200" cap="none" spc="0" normalizeH="0" baseline="0" noProof="0" dirty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ＭＳ Ｐゴシック" charset="0"/>
              <a:cs typeface="Lato Regular"/>
            </a:endParaRPr>
          </a:p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/>
              </a:rPr>
              <a:t>Prioritize relationship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t>building.</a:t>
            </a:r>
          </a:p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/>
              </a:rPr>
              <a:t>What do we know about our clients?</a:t>
            </a:r>
          </a:p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6" name="TextBox 31">
            <a:extLst>
              <a:ext uri="{FF2B5EF4-FFF2-40B4-BE49-F238E27FC236}">
                <a16:creationId xmlns:a16="http://schemas.microsoft.com/office/drawing/2014/main" id="{679B49F2-7A27-FF22-F3C7-3B90CEFA2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8200" y="1556996"/>
            <a:ext cx="3040054" cy="263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91440" rIns="91440" bIns="91440">
            <a:no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  <a:cs typeface="Lato Regular"/>
              </a:rPr>
              <a:t>What are we currently working on?</a:t>
            </a:r>
          </a:p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ＭＳ Ｐゴシック" charset="0"/>
              </a:rPr>
              <a:t>What are current projects happening in the industry?</a:t>
            </a:r>
          </a:p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/>
              </a:rPr>
              <a:t>What are common ad hoc requests?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  <a:p>
            <a:pPr marL="285750" marR="0" lvl="0" indent="-28575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ＭＳ Ｐゴシック" charset="0"/>
            </a:endParaRP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52CED9A0-6053-7D71-63D6-6D7114D8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9317" y="1556996"/>
            <a:ext cx="3040053" cy="263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91440" rIns="91440" bIns="91440">
            <a:no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5pPr>
            <a:lvl6pPr marL="25146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6pPr>
            <a:lvl7pPr marL="29718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7pPr>
            <a:lvl8pPr marL="34290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8pPr>
            <a:lvl9pPr marL="3886200" indent="-228600" defTabSz="1827213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ＭＳ Ｐゴシック" charset="0"/>
              </a:defRPr>
            </a:lvl9pPr>
          </a:lstStyle>
          <a:p>
            <a:pPr lvl="0" algn="ctr"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600" b="1" dirty="0">
                <a:solidFill>
                  <a:srgbClr val="021E51"/>
                </a:solidFill>
                <a:latin typeface="Arial" panose="020B0604020202020204"/>
                <a:cs typeface="Lato Regular"/>
              </a:rPr>
              <a:t>What are the future opportunities?</a:t>
            </a:r>
          </a:p>
          <a:p>
            <a:pPr marL="285750" indent="-285750"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/>
              </a:rPr>
              <a:t>What is their next-gen vision? </a:t>
            </a:r>
          </a:p>
          <a:p>
            <a:pPr marL="285750" indent="-285750"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Arial" panose="020B0604020202020204"/>
              </a:rPr>
              <a:t>What are pain points now that can be mitigated in the future?</a:t>
            </a:r>
          </a:p>
          <a:p>
            <a:pPr lvl="0" eaLnBrk="1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ＭＳ Ｐゴシック" charset="0"/>
              <a:cs typeface="Lato Regular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60F46CC-A43B-73C4-AFFF-D98C725570FE}"/>
              </a:ext>
            </a:extLst>
          </p:cNvPr>
          <p:cNvSpPr/>
          <p:nvPr/>
        </p:nvSpPr>
        <p:spPr>
          <a:xfrm rot="10800000">
            <a:off x="3724741" y="3467935"/>
            <a:ext cx="4546968" cy="32568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1F8F22-DDD5-E26D-3D4B-5B9F967B3058}"/>
              </a:ext>
            </a:extLst>
          </p:cNvPr>
          <p:cNvGrpSpPr/>
          <p:nvPr/>
        </p:nvGrpSpPr>
        <p:grpSpPr>
          <a:xfrm>
            <a:off x="830646" y="4172665"/>
            <a:ext cx="10335158" cy="2357399"/>
            <a:chOff x="6554912" y="1618931"/>
            <a:chExt cx="4960429" cy="239559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AC3B9C8-FF77-17D1-3486-6CAD57164D69}"/>
                </a:ext>
              </a:extLst>
            </p:cNvPr>
            <p:cNvSpPr/>
            <p:nvPr/>
          </p:nvSpPr>
          <p:spPr>
            <a:xfrm>
              <a:off x="6554912" y="1808071"/>
              <a:ext cx="4960429" cy="2206456"/>
            </a:xfrm>
            <a:prstGeom prst="round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412B4E7-8A99-2B7A-854A-E83CA23F9123}"/>
                </a:ext>
              </a:extLst>
            </p:cNvPr>
            <p:cNvSpPr/>
            <p:nvPr/>
          </p:nvSpPr>
          <p:spPr>
            <a:xfrm>
              <a:off x="7700774" y="1618931"/>
              <a:ext cx="2547055" cy="378279"/>
            </a:xfrm>
            <a:prstGeom prst="roundRect">
              <a:avLst/>
            </a:prstGeom>
            <a:solidFill>
              <a:srgbClr val="021E51"/>
            </a:solidFill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Background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5339BB-C35F-0EFE-7ECF-D5F2BA8D6556}"/>
                </a:ext>
              </a:extLst>
            </p:cNvPr>
            <p:cNvSpPr txBox="1"/>
            <p:nvPr/>
          </p:nvSpPr>
          <p:spPr>
            <a:xfrm>
              <a:off x="6654836" y="2063678"/>
              <a:ext cx="4637652" cy="16952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Healthcare organizations rely heavily on </a:t>
              </a:r>
              <a:r>
                <a:rPr lang="en-US" sz="1400" b="1" dirty="0"/>
                <a:t>Salesforce</a:t>
              </a:r>
              <a:r>
                <a:rPr lang="en-US" sz="1400" dirty="0"/>
                <a:t> as their </a:t>
              </a:r>
              <a:r>
                <a:rPr lang="en-US" sz="1400" b="1" dirty="0"/>
                <a:t>primary</a:t>
              </a:r>
              <a:r>
                <a:rPr lang="en-US" sz="1400" dirty="0"/>
                <a:t> CRM and </a:t>
              </a:r>
              <a:r>
                <a:rPr lang="en-US" sz="1400" b="1" dirty="0"/>
                <a:t>operational platform</a:t>
              </a:r>
              <a:r>
                <a:rPr lang="en-US" sz="1400" dirty="0"/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Staff across these organizations spend </a:t>
              </a:r>
              <a:r>
                <a:rPr lang="en-US" sz="1400" b="1" dirty="0"/>
                <a:t>significant time manually navigating Salesforce</a:t>
              </a:r>
              <a:r>
                <a:rPr lang="en-US" sz="1400" dirty="0"/>
                <a:t> to look up account information, log service issues, and track business development activity.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This results in friction, </a:t>
              </a:r>
              <a:r>
                <a:rPr lang="en-US" sz="1400" b="1" dirty="0"/>
                <a:t>slow response times</a:t>
              </a:r>
              <a:r>
                <a:rPr lang="en-US" sz="1400" dirty="0"/>
                <a:t>, and consultants </a:t>
              </a:r>
              <a:r>
                <a:rPr lang="en-US" sz="1400" b="1" dirty="0"/>
                <a:t>spending time on data retrieval instead of delivering value.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09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6F1C-CF99-66B0-A539-707BB41C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194B62CE-0B1A-654F-AB98-7674F1B7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Personas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7CC11-6AAB-3822-ECBF-3898782BD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DB45E30-467D-7410-91BF-A08FC9F769B4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Who is using this MCP?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6B4782-2D8D-CDAD-C8FF-AC206D143F97}"/>
              </a:ext>
            </a:extLst>
          </p:cNvPr>
          <p:cNvGrpSpPr/>
          <p:nvPr/>
        </p:nvGrpSpPr>
        <p:grpSpPr>
          <a:xfrm>
            <a:off x="6347421" y="1479175"/>
            <a:ext cx="4304425" cy="3357185"/>
            <a:chOff x="6554912" y="1570959"/>
            <a:chExt cx="4960429" cy="244356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9CA4DC6-D25C-4DE7-D2E6-4EC3197C326D}"/>
                </a:ext>
              </a:extLst>
            </p:cNvPr>
            <p:cNvSpPr/>
            <p:nvPr/>
          </p:nvSpPr>
          <p:spPr>
            <a:xfrm>
              <a:off x="6554912" y="1808071"/>
              <a:ext cx="4960429" cy="2206456"/>
            </a:xfrm>
            <a:prstGeom prst="round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8CB5100-C912-D2DE-1E53-5F3FE39CB06D}"/>
                </a:ext>
              </a:extLst>
            </p:cNvPr>
            <p:cNvSpPr/>
            <p:nvPr/>
          </p:nvSpPr>
          <p:spPr>
            <a:xfrm>
              <a:off x="7735415" y="1570959"/>
              <a:ext cx="2599419" cy="405741"/>
            </a:xfrm>
            <a:prstGeom prst="roundRect">
              <a:avLst/>
            </a:prstGeom>
            <a:solidFill>
              <a:srgbClr val="021E5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prstClr val="white"/>
                  </a:solidFill>
                  <a:latin typeface="Arial"/>
                </a:rPr>
                <a:t>Consultant</a:t>
              </a:r>
              <a:endPara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CC8CE8-B90D-1D34-6753-82F5E457B578}"/>
                </a:ext>
              </a:extLst>
            </p:cNvPr>
            <p:cNvSpPr txBox="1"/>
            <p:nvPr/>
          </p:nvSpPr>
          <p:spPr>
            <a:xfrm>
              <a:off x="6848855" y="2015224"/>
              <a:ext cx="4372541" cy="179215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Secondary user.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 consultant who is supporting healthcare clients.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Needs visibility into client Salesforce environments to manage requests effectively. </a:t>
              </a:r>
            </a:p>
            <a:p>
              <a:endParaRPr lang="en-US" sz="1400" dirty="0"/>
            </a:p>
            <a:p>
              <a:r>
                <a:rPr lang="en-US" sz="1400" b="1" dirty="0"/>
                <a:t>Example: </a:t>
              </a:r>
              <a:r>
                <a:rPr lang="en-US" sz="1400" dirty="0"/>
                <a:t>A consultant supporting their healthcare client with data analytics for upcoming contract renewals. </a:t>
              </a:r>
            </a:p>
            <a:p>
              <a:endParaRPr lang="en-US" sz="14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76F695-8B63-A284-3C1C-A4DDB15F4FC5}"/>
              </a:ext>
            </a:extLst>
          </p:cNvPr>
          <p:cNvGrpSpPr/>
          <p:nvPr/>
        </p:nvGrpSpPr>
        <p:grpSpPr>
          <a:xfrm>
            <a:off x="1147862" y="1479175"/>
            <a:ext cx="4302153" cy="3355472"/>
            <a:chOff x="6554912" y="1618931"/>
            <a:chExt cx="4960429" cy="239559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DBFB79C-146F-C1C1-D9C2-3668D30F8E3A}"/>
                </a:ext>
              </a:extLst>
            </p:cNvPr>
            <p:cNvSpPr/>
            <p:nvPr/>
          </p:nvSpPr>
          <p:spPr>
            <a:xfrm>
              <a:off x="6554912" y="1808071"/>
              <a:ext cx="4960429" cy="2206456"/>
            </a:xfrm>
            <a:prstGeom prst="round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0633D10-BF10-2178-82DB-2FBEC9309F14}"/>
                </a:ext>
              </a:extLst>
            </p:cNvPr>
            <p:cNvSpPr/>
            <p:nvPr/>
          </p:nvSpPr>
          <p:spPr>
            <a:xfrm>
              <a:off x="7700774" y="1618931"/>
              <a:ext cx="2547055" cy="378279"/>
            </a:xfrm>
            <a:prstGeom prst="roundRect">
              <a:avLst/>
            </a:prstGeom>
            <a:solidFill>
              <a:srgbClr val="021E51"/>
            </a:solidFill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Healthcare Client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0CA2EB-777C-AE2D-B6B8-311CF3904E69}"/>
                </a:ext>
              </a:extLst>
            </p:cNvPr>
            <p:cNvSpPr txBox="1"/>
            <p:nvPr/>
          </p:nvSpPr>
          <p:spPr>
            <a:xfrm>
              <a:off x="6654837" y="1942897"/>
              <a:ext cx="4637652" cy="193681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Primary user.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Individuals employed within a health system, hospital network, or med tech company who use Salesforce as part of their daily workflow.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These are not technical users but rather coordinators, liaisons, etc., who need answers fast.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/>
            </a:p>
            <a:p>
              <a:r>
                <a:rPr lang="en-US" sz="1400" b="1" dirty="0"/>
                <a:t>Example: </a:t>
              </a:r>
              <a:r>
                <a:rPr lang="en-US" sz="1400" dirty="0"/>
                <a:t>Someone in med tech sales who needs to know they’re calling the right person about the right product. </a:t>
              </a:r>
            </a:p>
          </p:txBody>
        </p:sp>
      </p:grpSp>
      <p:sp>
        <p:nvSpPr>
          <p:cNvPr id="28" name="Text Placeholder 450">
            <a:extLst>
              <a:ext uri="{FF2B5EF4-FFF2-40B4-BE49-F238E27FC236}">
                <a16:creationId xmlns:a16="http://schemas.microsoft.com/office/drawing/2014/main" id="{B918200A-4E95-F00E-3E8B-8F09890D55D4}"/>
              </a:ext>
            </a:extLst>
          </p:cNvPr>
          <p:cNvSpPr txBox="1">
            <a:spLocks/>
          </p:cNvSpPr>
          <p:nvPr/>
        </p:nvSpPr>
        <p:spPr>
          <a:xfrm>
            <a:off x="694944" y="5722441"/>
            <a:ext cx="10820399" cy="566309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621792" tIns="36576" rIns="621792" bIns="36576" rtlCol="0" anchor="ctr" anchorCtr="0">
            <a:spAutoFit/>
          </a:bodyPr>
          <a:lstStyle>
            <a:lvl1pPr marL="0" indent="0" algn="ctr" defTabSz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Tx/>
              <a:buNone/>
              <a:defRPr lang="en-US" sz="16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The dual-persona scope is an intentional design choice, not scope creep. In practice, a consulting firm would deploy separate instances with different permission scopes   </a:t>
            </a:r>
          </a:p>
        </p:txBody>
      </p:sp>
    </p:spTree>
    <p:extLst>
      <p:ext uri="{BB962C8B-B14F-4D97-AF65-F5344CB8AC3E}">
        <p14:creationId xmlns:p14="http://schemas.microsoft.com/office/powerpoint/2010/main" val="1022834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C63F6-4B9F-2D44-7090-FBFDF4E9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A6CBAA55-2F14-F0E1-DED9-B72CCB80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8E3DC3-C00E-26EA-8C92-D4F217D0B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6CDAE59-174B-9CE4-37F0-332A5F00A713}"/>
              </a:ext>
            </a:extLst>
          </p:cNvPr>
          <p:cNvSpPr txBox="1">
            <a:spLocks/>
          </p:cNvSpPr>
          <p:nvPr/>
        </p:nvSpPr>
        <p:spPr>
          <a:xfrm>
            <a:off x="555358" y="945115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Tying scope into 3 Salesforce functions for the client and the consultant.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272C66-3835-2D1A-66B2-D00442CC9FA6}"/>
              </a:ext>
            </a:extLst>
          </p:cNvPr>
          <p:cNvSpPr txBox="1"/>
          <p:nvPr/>
        </p:nvSpPr>
        <p:spPr>
          <a:xfrm>
            <a:off x="553312" y="1913177"/>
            <a:ext cx="1762646" cy="3200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Consultant Mindset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75CCE5-F10F-54ED-A41F-46918CC79B10}"/>
              </a:ext>
            </a:extLst>
          </p:cNvPr>
          <p:cNvSpPr txBox="1"/>
          <p:nvPr/>
        </p:nvSpPr>
        <p:spPr>
          <a:xfrm>
            <a:off x="553312" y="2774295"/>
            <a:ext cx="2573956" cy="20013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Salesforce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85FB9-CC20-A105-FDF8-F574B57677C3}"/>
              </a:ext>
            </a:extLst>
          </p:cNvPr>
          <p:cNvSpPr txBox="1"/>
          <p:nvPr/>
        </p:nvSpPr>
        <p:spPr>
          <a:xfrm>
            <a:off x="540262" y="3853269"/>
            <a:ext cx="2587006" cy="72204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Client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lang="en-US" sz="1600" b="1" dirty="0">
                <a:solidFill>
                  <a:srgbClr val="021E51"/>
                </a:solidFill>
                <a:latin typeface="+mj-lt"/>
              </a:rPr>
              <a:t>Use Case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97BBF-4753-9646-1C6C-E4FAE6950CDB}"/>
              </a:ext>
            </a:extLst>
          </p:cNvPr>
          <p:cNvSpPr txBox="1"/>
          <p:nvPr/>
        </p:nvSpPr>
        <p:spPr>
          <a:xfrm>
            <a:off x="553312" y="5352089"/>
            <a:ext cx="2156944" cy="3114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Consultant Use Case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156A48-2B75-D7B9-71EE-E3C3E8FF87F5}"/>
              </a:ext>
            </a:extLst>
          </p:cNvPr>
          <p:cNvCxnSpPr>
            <a:cxnSpLocks/>
          </p:cNvCxnSpPr>
          <p:nvPr/>
        </p:nvCxnSpPr>
        <p:spPr>
          <a:xfrm flipH="1">
            <a:off x="464067" y="2458054"/>
            <a:ext cx="1064350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524955-8929-FCC7-28B7-5BC4036445F0}"/>
              </a:ext>
            </a:extLst>
          </p:cNvPr>
          <p:cNvCxnSpPr>
            <a:cxnSpLocks/>
          </p:cNvCxnSpPr>
          <p:nvPr/>
        </p:nvCxnSpPr>
        <p:spPr>
          <a:xfrm flipH="1">
            <a:off x="464066" y="3309953"/>
            <a:ext cx="1064350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7C6289-393B-E9BF-D893-961CB446E988}"/>
              </a:ext>
            </a:extLst>
          </p:cNvPr>
          <p:cNvCxnSpPr>
            <a:cxnSpLocks/>
          </p:cNvCxnSpPr>
          <p:nvPr/>
        </p:nvCxnSpPr>
        <p:spPr>
          <a:xfrm flipH="1">
            <a:off x="464066" y="4826696"/>
            <a:ext cx="1064350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6351B1-A266-A825-EB6E-516E82376934}"/>
              </a:ext>
            </a:extLst>
          </p:cNvPr>
          <p:cNvCxnSpPr>
            <a:cxnSpLocks/>
          </p:cNvCxnSpPr>
          <p:nvPr/>
        </p:nvCxnSpPr>
        <p:spPr>
          <a:xfrm flipV="1">
            <a:off x="3093897" y="1504943"/>
            <a:ext cx="0" cy="460763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6B506C-E4D6-8CE6-2C08-B436A1B24C86}"/>
              </a:ext>
            </a:extLst>
          </p:cNvPr>
          <p:cNvCxnSpPr>
            <a:cxnSpLocks/>
          </p:cNvCxnSpPr>
          <p:nvPr/>
        </p:nvCxnSpPr>
        <p:spPr>
          <a:xfrm flipV="1">
            <a:off x="8917632" y="1519750"/>
            <a:ext cx="0" cy="4418713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7E74E6-E9FC-AEFA-0897-BA26FCE0B3D5}"/>
              </a:ext>
            </a:extLst>
          </p:cNvPr>
          <p:cNvCxnSpPr>
            <a:cxnSpLocks/>
          </p:cNvCxnSpPr>
          <p:nvPr/>
        </p:nvCxnSpPr>
        <p:spPr>
          <a:xfrm flipV="1">
            <a:off x="6000628" y="1461872"/>
            <a:ext cx="0" cy="4456043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6C2925-99B3-DB3F-DD35-E99E5BDBBFC3}"/>
              </a:ext>
            </a:extLst>
          </p:cNvPr>
          <p:cNvSpPr txBox="1"/>
          <p:nvPr/>
        </p:nvSpPr>
        <p:spPr>
          <a:xfrm>
            <a:off x="3528744" y="1735087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i="1" dirty="0">
                <a:cs typeface="Lato Regular"/>
              </a:rPr>
              <a:t>Who are we working with?</a:t>
            </a:r>
            <a:endParaRPr lang="en-US" sz="1400" i="1" dirty="0">
              <a:ea typeface="ＭＳ Ｐゴシック" charset="0"/>
              <a:cs typeface="Lato Regula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4F276A-AE96-2922-3C2A-B634A2698F72}"/>
              </a:ext>
            </a:extLst>
          </p:cNvPr>
          <p:cNvSpPr txBox="1"/>
          <p:nvPr/>
        </p:nvSpPr>
        <p:spPr>
          <a:xfrm>
            <a:off x="6435474" y="1735087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i="1" dirty="0">
                <a:cs typeface="Lato Regular"/>
              </a:rPr>
              <a:t>What are we currently working on?</a:t>
            </a:r>
            <a:endParaRPr lang="en-US" sz="1400" i="1" dirty="0">
              <a:ea typeface="ＭＳ Ｐゴシック" charset="0"/>
              <a:cs typeface="Lato Regula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B74C63-F66C-8E59-388B-4AB4D61E8942}"/>
              </a:ext>
            </a:extLst>
          </p:cNvPr>
          <p:cNvSpPr txBox="1"/>
          <p:nvPr/>
        </p:nvSpPr>
        <p:spPr>
          <a:xfrm>
            <a:off x="9080807" y="1735087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i="1" dirty="0">
                <a:cs typeface="Lato Regular"/>
              </a:rPr>
              <a:t>What are the future opportunities?</a:t>
            </a:r>
            <a:endParaRPr lang="en-US" sz="1400" i="1" dirty="0">
              <a:ea typeface="ＭＳ Ｐゴシック" charset="0"/>
              <a:cs typeface="Lato Regula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902567-5CE1-0334-1173-D37000E354A5}"/>
              </a:ext>
            </a:extLst>
          </p:cNvPr>
          <p:cNvSpPr txBox="1"/>
          <p:nvPr/>
        </p:nvSpPr>
        <p:spPr>
          <a:xfrm>
            <a:off x="3528744" y="2656154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b="1" dirty="0">
                <a:cs typeface="Lato Regular"/>
              </a:rPr>
              <a:t>Query account and contact Records</a:t>
            </a:r>
            <a:endParaRPr lang="en-US" sz="1400" b="1" dirty="0">
              <a:ea typeface="ＭＳ Ｐゴシック" charset="0"/>
              <a:cs typeface="Lato Regula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64412A-EDF0-B5CE-5112-95E4581FE94B}"/>
              </a:ext>
            </a:extLst>
          </p:cNvPr>
          <p:cNvSpPr txBox="1"/>
          <p:nvPr/>
        </p:nvSpPr>
        <p:spPr>
          <a:xfrm>
            <a:off x="6456021" y="2656154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b="1" dirty="0">
                <a:cs typeface="Lato Regular"/>
              </a:rPr>
              <a:t>Create and update cases </a:t>
            </a:r>
            <a:endParaRPr lang="en-US" sz="1400" b="1" dirty="0">
              <a:ea typeface="ＭＳ Ｐゴシック" charset="0"/>
              <a:cs typeface="Lato Regula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BC693C-B7F9-0B37-00C3-F3C558385513}"/>
              </a:ext>
            </a:extLst>
          </p:cNvPr>
          <p:cNvSpPr txBox="1"/>
          <p:nvPr/>
        </p:nvSpPr>
        <p:spPr>
          <a:xfrm>
            <a:off x="9080807" y="2751905"/>
            <a:ext cx="2026766" cy="3680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b="1" dirty="0">
                <a:cs typeface="Lato Regular"/>
              </a:rPr>
              <a:t>Query opportunities</a:t>
            </a:r>
            <a:endParaRPr lang="en-US" sz="1400" b="1" dirty="0">
              <a:ea typeface="ＭＳ Ｐゴシック" charset="0"/>
              <a:cs typeface="Lato Regula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E9B702-3521-26D5-B5F9-AA243F5D9684}"/>
              </a:ext>
            </a:extLst>
          </p:cNvPr>
          <p:cNvSpPr txBox="1"/>
          <p:nvPr/>
        </p:nvSpPr>
        <p:spPr>
          <a:xfrm>
            <a:off x="3518470" y="3480690"/>
            <a:ext cx="2026766" cy="11770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physician liaison at a regional health system needs to pull up a referring physician group before an outreach call.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A1EE90-A347-2DE8-FCE8-B37714E898F0}"/>
              </a:ext>
            </a:extLst>
          </p:cNvPr>
          <p:cNvSpPr txBox="1"/>
          <p:nvPr/>
        </p:nvSpPr>
        <p:spPr>
          <a:xfrm>
            <a:off x="6389055" y="3480690"/>
            <a:ext cx="2026766" cy="12427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patient services coordinator needs to log a provider escalation a billing dispute, flagged as high priority.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B02461-6B92-04C1-2183-FD4F19DB2ABC}"/>
              </a:ext>
            </a:extLst>
          </p:cNvPr>
          <p:cNvSpPr txBox="1"/>
          <p:nvPr/>
        </p:nvSpPr>
        <p:spPr>
          <a:xfrm>
            <a:off x="3585436" y="5005770"/>
            <a:ext cx="2026766" cy="1190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consultant preparing for a quarterly business review pulls the client account overview before the meeting.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772C78-69E1-7DFA-1900-8A265D97B4CF}"/>
              </a:ext>
            </a:extLst>
          </p:cNvPr>
          <p:cNvSpPr txBox="1"/>
          <p:nvPr/>
        </p:nvSpPr>
        <p:spPr>
          <a:xfrm>
            <a:off x="9080807" y="3480690"/>
            <a:ext cx="2026766" cy="12844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business development manager wants a status check on all active partnership opportunities with med tech vendors.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1E1A5C-8EB3-315F-FE26-BE5675877D57}"/>
              </a:ext>
            </a:extLst>
          </p:cNvPr>
          <p:cNvSpPr txBox="1"/>
          <p:nvPr/>
        </p:nvSpPr>
        <p:spPr>
          <a:xfrm>
            <a:off x="6435474" y="5005770"/>
            <a:ext cx="2026766" cy="1500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consultant managing a client implementation identifies a new issue mid-engagement and logs it directly through Claude.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F12DB8-48DE-E683-4C94-9C7DCE2CE269}"/>
              </a:ext>
            </a:extLst>
          </p:cNvPr>
          <p:cNvSpPr txBox="1"/>
          <p:nvPr/>
        </p:nvSpPr>
        <p:spPr>
          <a:xfrm>
            <a:off x="9172439" y="5005770"/>
            <a:ext cx="2026766" cy="1500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consultant wants visibility into where their client stands on an upcoming renewal before advising on contract strategy. 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1417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576C0-65A3-A76A-CDBE-A27B356A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3104AC-E370-0C3A-0A4A-36CEBAE7B258}"/>
              </a:ext>
            </a:extLst>
          </p:cNvPr>
          <p:cNvSpPr/>
          <p:nvPr/>
        </p:nvSpPr>
        <p:spPr>
          <a:xfrm>
            <a:off x="6215865" y="1519750"/>
            <a:ext cx="2548802" cy="4986506"/>
          </a:xfrm>
          <a:prstGeom prst="rect">
            <a:avLst/>
          </a:prstGeom>
          <a:solidFill>
            <a:srgbClr val="021E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6E6576AC-27E9-88FA-B93B-7265F79A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16113-0139-BE09-686B-6810C2052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E0D149-DDB1-1EFD-839A-9016BAD1CE34}"/>
              </a:ext>
            </a:extLst>
          </p:cNvPr>
          <p:cNvSpPr txBox="1">
            <a:spLocks/>
          </p:cNvSpPr>
          <p:nvPr/>
        </p:nvSpPr>
        <p:spPr>
          <a:xfrm>
            <a:off x="555358" y="945115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Tying scope into 3 Salesforce functions for the client and the consultant.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91B248-3C0C-1BF2-5342-A65558E6E3B8}"/>
              </a:ext>
            </a:extLst>
          </p:cNvPr>
          <p:cNvSpPr txBox="1"/>
          <p:nvPr/>
        </p:nvSpPr>
        <p:spPr>
          <a:xfrm>
            <a:off x="553312" y="1913177"/>
            <a:ext cx="1762646" cy="3200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Consultant Mindset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95F41-FE53-E07F-286C-6D0000B4F51C}"/>
              </a:ext>
            </a:extLst>
          </p:cNvPr>
          <p:cNvSpPr txBox="1"/>
          <p:nvPr/>
        </p:nvSpPr>
        <p:spPr>
          <a:xfrm>
            <a:off x="553312" y="2774295"/>
            <a:ext cx="2573956" cy="20013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Salesforce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5194C-EA6A-8CBE-BA30-65C6C7101781}"/>
              </a:ext>
            </a:extLst>
          </p:cNvPr>
          <p:cNvSpPr txBox="1"/>
          <p:nvPr/>
        </p:nvSpPr>
        <p:spPr>
          <a:xfrm>
            <a:off x="540262" y="3853269"/>
            <a:ext cx="2587006" cy="72204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Client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lang="en-US" sz="1600" b="1" dirty="0">
                <a:solidFill>
                  <a:srgbClr val="021E51"/>
                </a:solidFill>
                <a:latin typeface="+mj-lt"/>
              </a:rPr>
              <a:t>Use Case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0F971-150E-CF18-299E-D70A780D0390}"/>
              </a:ext>
            </a:extLst>
          </p:cNvPr>
          <p:cNvSpPr txBox="1"/>
          <p:nvPr/>
        </p:nvSpPr>
        <p:spPr>
          <a:xfrm>
            <a:off x="553312" y="5352089"/>
            <a:ext cx="2156944" cy="3114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1E5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Consultant Use Case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86DBA6-A6A5-8CF0-8B0B-732B1E29042C}"/>
              </a:ext>
            </a:extLst>
          </p:cNvPr>
          <p:cNvCxnSpPr>
            <a:cxnSpLocks/>
          </p:cNvCxnSpPr>
          <p:nvPr/>
        </p:nvCxnSpPr>
        <p:spPr>
          <a:xfrm flipH="1">
            <a:off x="464067" y="2458054"/>
            <a:ext cx="1064350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37C595-14BC-D536-97B2-FCC1B80D8340}"/>
              </a:ext>
            </a:extLst>
          </p:cNvPr>
          <p:cNvCxnSpPr>
            <a:cxnSpLocks/>
          </p:cNvCxnSpPr>
          <p:nvPr/>
        </p:nvCxnSpPr>
        <p:spPr>
          <a:xfrm flipH="1">
            <a:off x="464066" y="3309953"/>
            <a:ext cx="1064350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2B03B8-F28E-9328-7F17-F32B6FEFAF20}"/>
              </a:ext>
            </a:extLst>
          </p:cNvPr>
          <p:cNvCxnSpPr>
            <a:cxnSpLocks/>
          </p:cNvCxnSpPr>
          <p:nvPr/>
        </p:nvCxnSpPr>
        <p:spPr>
          <a:xfrm flipH="1">
            <a:off x="464066" y="4826696"/>
            <a:ext cx="1064350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58FD17-C51A-4066-D8FB-F7BA3DA8F3BB}"/>
              </a:ext>
            </a:extLst>
          </p:cNvPr>
          <p:cNvCxnSpPr>
            <a:cxnSpLocks/>
          </p:cNvCxnSpPr>
          <p:nvPr/>
        </p:nvCxnSpPr>
        <p:spPr>
          <a:xfrm flipV="1">
            <a:off x="3093897" y="1504943"/>
            <a:ext cx="0" cy="460763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A19C4A-89D6-F952-C516-4E6F9FF9B2D4}"/>
              </a:ext>
            </a:extLst>
          </p:cNvPr>
          <p:cNvCxnSpPr>
            <a:cxnSpLocks/>
          </p:cNvCxnSpPr>
          <p:nvPr/>
        </p:nvCxnSpPr>
        <p:spPr>
          <a:xfrm flipV="1">
            <a:off x="8917632" y="1519750"/>
            <a:ext cx="0" cy="4418713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19BFC7-4F86-F485-4083-F3E20441D185}"/>
              </a:ext>
            </a:extLst>
          </p:cNvPr>
          <p:cNvCxnSpPr>
            <a:cxnSpLocks/>
          </p:cNvCxnSpPr>
          <p:nvPr/>
        </p:nvCxnSpPr>
        <p:spPr>
          <a:xfrm flipV="1">
            <a:off x="6000628" y="1461872"/>
            <a:ext cx="0" cy="4456043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A75AB25-E3D4-2A43-936E-A9D63E55CA7E}"/>
              </a:ext>
            </a:extLst>
          </p:cNvPr>
          <p:cNvSpPr txBox="1"/>
          <p:nvPr/>
        </p:nvSpPr>
        <p:spPr>
          <a:xfrm>
            <a:off x="3528744" y="1735087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i="1" dirty="0">
                <a:cs typeface="Lato Regular"/>
              </a:rPr>
              <a:t>Who are we working with?</a:t>
            </a:r>
            <a:endParaRPr lang="en-US" sz="1400" i="1" dirty="0">
              <a:ea typeface="ＭＳ Ｐゴシック" charset="0"/>
              <a:cs typeface="Lato Regula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FFF284-AD10-2456-65D1-03C6303F3EA3}"/>
              </a:ext>
            </a:extLst>
          </p:cNvPr>
          <p:cNvSpPr txBox="1"/>
          <p:nvPr/>
        </p:nvSpPr>
        <p:spPr>
          <a:xfrm>
            <a:off x="6435474" y="1735087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i="1" dirty="0">
                <a:solidFill>
                  <a:schemeClr val="bg2"/>
                </a:solidFill>
                <a:cs typeface="Lato Regular"/>
              </a:rPr>
              <a:t>What are we currently working on?</a:t>
            </a:r>
            <a:endParaRPr lang="en-US" sz="1400" i="1" dirty="0">
              <a:solidFill>
                <a:schemeClr val="bg2"/>
              </a:solidFill>
              <a:ea typeface="ＭＳ Ｐゴシック" charset="0"/>
              <a:cs typeface="Lato Regula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FFC63F-C397-F8E0-6E17-DD22B028C627}"/>
              </a:ext>
            </a:extLst>
          </p:cNvPr>
          <p:cNvSpPr txBox="1"/>
          <p:nvPr/>
        </p:nvSpPr>
        <p:spPr>
          <a:xfrm>
            <a:off x="9080807" y="1735087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i="1" dirty="0">
                <a:cs typeface="Lato Regular"/>
              </a:rPr>
              <a:t>What are the future opportunities?</a:t>
            </a:r>
            <a:endParaRPr lang="en-US" sz="1400" i="1" dirty="0">
              <a:ea typeface="ＭＳ Ｐゴシック" charset="0"/>
              <a:cs typeface="Lato Regula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A6488-0933-48F0-94E5-2ED6F62D2B46}"/>
              </a:ext>
            </a:extLst>
          </p:cNvPr>
          <p:cNvSpPr txBox="1"/>
          <p:nvPr/>
        </p:nvSpPr>
        <p:spPr>
          <a:xfrm>
            <a:off x="3528744" y="2656154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b="1" dirty="0">
                <a:cs typeface="Lato Regular"/>
              </a:rPr>
              <a:t>Query account and contact Records</a:t>
            </a:r>
            <a:endParaRPr lang="en-US" sz="1400" b="1" dirty="0">
              <a:ea typeface="ＭＳ Ｐゴシック" charset="0"/>
              <a:cs typeface="Lato Regula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6532B9-4BA3-EAA2-05D3-053A1CBD2F58}"/>
              </a:ext>
            </a:extLst>
          </p:cNvPr>
          <p:cNvSpPr txBox="1"/>
          <p:nvPr/>
        </p:nvSpPr>
        <p:spPr>
          <a:xfrm>
            <a:off x="6456021" y="2656154"/>
            <a:ext cx="2026766" cy="5064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b="1" dirty="0">
                <a:solidFill>
                  <a:schemeClr val="bg2"/>
                </a:solidFill>
                <a:cs typeface="Lato Regular"/>
              </a:rPr>
              <a:t>Create and update cases </a:t>
            </a:r>
            <a:endParaRPr lang="en-US" sz="1400" b="1" dirty="0">
              <a:solidFill>
                <a:schemeClr val="bg2"/>
              </a:solidFill>
              <a:ea typeface="ＭＳ Ｐゴシック" charset="0"/>
              <a:cs typeface="Lato Regula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596FED-2E56-EAFC-8A5F-C2286A3222EA}"/>
              </a:ext>
            </a:extLst>
          </p:cNvPr>
          <p:cNvSpPr txBox="1"/>
          <p:nvPr/>
        </p:nvSpPr>
        <p:spPr>
          <a:xfrm>
            <a:off x="9080807" y="2751905"/>
            <a:ext cx="2026766" cy="3680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b="1" dirty="0">
                <a:cs typeface="Lato Regular"/>
              </a:rPr>
              <a:t>Query opportunities</a:t>
            </a:r>
            <a:endParaRPr lang="en-US" sz="1400" b="1" dirty="0">
              <a:ea typeface="ＭＳ Ｐゴシック" charset="0"/>
              <a:cs typeface="Lato Regula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0D9A86-4FC9-D9D5-66C4-FB47383EA38C}"/>
              </a:ext>
            </a:extLst>
          </p:cNvPr>
          <p:cNvSpPr txBox="1"/>
          <p:nvPr/>
        </p:nvSpPr>
        <p:spPr>
          <a:xfrm>
            <a:off x="3518470" y="3480690"/>
            <a:ext cx="2026766" cy="11770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physician liaison at a regional health system needs to pull up a referring physician group before an outreach call.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F7DE4-1073-EC01-E804-648A4B61A138}"/>
              </a:ext>
            </a:extLst>
          </p:cNvPr>
          <p:cNvSpPr txBox="1"/>
          <p:nvPr/>
        </p:nvSpPr>
        <p:spPr>
          <a:xfrm>
            <a:off x="6389055" y="3480690"/>
            <a:ext cx="2026766" cy="12427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solidFill>
                  <a:schemeClr val="bg2"/>
                </a:solidFill>
                <a:cs typeface="Lato Regular"/>
              </a:rPr>
              <a:t>A patient services coordinator needs to log a provider escalation a billing dispute, flagged as high priority.</a:t>
            </a:r>
            <a:endParaRPr lang="en-US" sz="1400" dirty="0">
              <a:solidFill>
                <a:schemeClr val="bg2"/>
              </a:solidFill>
              <a:ea typeface="ＭＳ Ｐゴシック" charset="0"/>
              <a:cs typeface="Lato Regula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9AC92B-0055-AE7D-FBB6-1F0C4414296E}"/>
              </a:ext>
            </a:extLst>
          </p:cNvPr>
          <p:cNvSpPr txBox="1"/>
          <p:nvPr/>
        </p:nvSpPr>
        <p:spPr>
          <a:xfrm>
            <a:off x="3585436" y="5005770"/>
            <a:ext cx="2026766" cy="1190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consultant preparing for a quarterly business review pulls the client account overview before the meeting.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D17890-2FAA-3F46-5AE0-718A818155B4}"/>
              </a:ext>
            </a:extLst>
          </p:cNvPr>
          <p:cNvSpPr txBox="1"/>
          <p:nvPr/>
        </p:nvSpPr>
        <p:spPr>
          <a:xfrm>
            <a:off x="9080807" y="3480690"/>
            <a:ext cx="2026766" cy="12844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business development manager wants a status check on all active partnership opportunities with med tech vendors.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959F8C-8C4E-4D50-C62B-7E7F588D73F1}"/>
              </a:ext>
            </a:extLst>
          </p:cNvPr>
          <p:cNvSpPr txBox="1"/>
          <p:nvPr/>
        </p:nvSpPr>
        <p:spPr>
          <a:xfrm>
            <a:off x="6435474" y="5005770"/>
            <a:ext cx="2026766" cy="1500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solidFill>
                  <a:schemeClr val="bg2"/>
                </a:solidFill>
                <a:cs typeface="Lato Regular"/>
              </a:rPr>
              <a:t>A consultant managing a client implementation identifies a new issue mid-engagement and logs it directly through Claude.</a:t>
            </a:r>
            <a:endParaRPr lang="en-US" sz="1400" dirty="0">
              <a:solidFill>
                <a:schemeClr val="bg2"/>
              </a:solidFill>
              <a:ea typeface="ＭＳ Ｐゴシック" charset="0"/>
              <a:cs typeface="Lato Regula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71A459-A5A8-E432-C10B-360DAD3CA185}"/>
              </a:ext>
            </a:extLst>
          </p:cNvPr>
          <p:cNvSpPr txBox="1"/>
          <p:nvPr/>
        </p:nvSpPr>
        <p:spPr>
          <a:xfrm>
            <a:off x="9172439" y="5005770"/>
            <a:ext cx="2026766" cy="1500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400" dirty="0">
                <a:cs typeface="Lato Regular"/>
              </a:rPr>
              <a:t>A consultant wants visibility into where their client stands on an upcoming renewal before advising on contract strategy. </a:t>
            </a:r>
            <a:endParaRPr lang="en-US" sz="1400" dirty="0">
              <a:ea typeface="ＭＳ Ｐゴシック" charset="0"/>
              <a:cs typeface="La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61508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4444-21D2-92BE-E1CD-BFFDCA14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0B94BF8C-3250-0807-B341-7F39C411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Capabilities</a:t>
            </a:r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47EF3B7A-B2A4-7295-BCA0-F0AE0E7E6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DDC4CF-5754-846A-7E1F-B716E3E80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91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D6FAD-23AF-02D9-6B66-4FE629C8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C30D5069-5451-B963-EF91-FA3C9D8D173F}"/>
              </a:ext>
            </a:extLst>
          </p:cNvPr>
          <p:cNvSpPr/>
          <p:nvPr/>
        </p:nvSpPr>
        <p:spPr>
          <a:xfrm>
            <a:off x="6154059" y="1658436"/>
            <a:ext cx="5270670" cy="1370754"/>
          </a:xfrm>
          <a:prstGeom prst="roundRect">
            <a:avLst>
              <a:gd name="adj" fmla="val 50000"/>
            </a:avLst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38CDAF69-C879-43F5-0EF8-1FBC5BC6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B5D56-3CD2-82B8-6BBB-4598BFC4D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A3539CD-D610-1894-686C-8C995BFF5B09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85330F60-0074-7583-C8D9-B98D49A04D5D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F52A9295-547E-067E-58AA-84C5926C9A54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9E756847-A864-CE9C-BDB6-17372340FACA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2C460C5-D51B-C6FD-8366-9ABF311938EE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Install and use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Claude 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to understand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F16979B5-BB27-29E8-B88F-E9B119E7EF7D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69982F2B-9D70-0698-E6E2-ADE3A887E5CA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9AFA48A1-07E3-F112-8104-98153DB4FAE6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F6B6E06F-B497-0641-2FA1-5B57B39B0C8F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2BD4FE2D-A91E-D740-DD65-B22EDE075EC2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137884AA-B907-DA19-BB95-BC0E0C00A74D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B5D20396-0ADE-2604-8D2E-548249523B35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82CDC21E-443E-4996-3486-8CB4CBCFCC61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F9BB277F-26A2-A16F-4796-74721002A60E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E5956C8D-A151-BEAD-3C79-C498414E80A3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93B63AB5-66BB-7CDA-3A4D-A9AD77508340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846BF53A-2E37-350D-3FDD-12395C73A263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58276AB4-07CD-8872-72A6-A662D92B3387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5F04BBC6-25AC-99BD-EBBC-C0D8202E2869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F7163DAF-0716-1AA3-A39C-C99E6C34FE6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79AFDFD-BD75-B748-0513-60734473DB2E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0722D5-8A7F-C49C-B2A4-0A2DB0D3C19A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394538F-CA21-0E5B-7D3A-7715746A84CD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725CE85-C194-E364-F409-0F6DC13F2B34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1D44326-2A93-A6E3-24B9-DBABD835E8B3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126CC52-38C9-A575-15DF-2CC9DB593C1B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B437C5-D168-E1CA-546C-33B509B9E2B5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Research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Salesforce API requirements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179935-2E3F-10C4-A558-0B2FF2895D17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Establish clear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objectives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what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capabilities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A0D486-CB20-225C-3EA2-19ABA76EFD13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Implement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functionality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with at least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Salesforce functions.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501B96-8CC4-A0D3-9E10-1231149387E8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Define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requirements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scope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my MCP server implementation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Healthcare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1D0BB0-E1EC-767C-6EDB-7E301EDC361B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50DDD1CA-037B-8C9E-8A18-A2D10B2AA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F5C2B430-D943-D0F5-D2DA-B0E9888E4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0AEEEA2D-0996-24DB-FCDE-CDD163655D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962AAEEA-6C66-2A7D-6D7A-AD07FFE26C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CC07E60F-F396-196E-922A-47BF00BB4C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7A2DD43F-BDF4-0EAF-B8A9-64BD50215C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86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9157-DB96-A3B0-3F64-670412B1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90160FCA-3570-39FB-F80E-0C161FA0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Objectives &amp; Capabilities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C8AFD-7A8C-6814-726A-EFFB33BCC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44842F7-A674-E597-141B-853B04BFEEFD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sz="1600" i="1" dirty="0">
                <a:solidFill>
                  <a:srgbClr val="63666A"/>
                </a:solidFill>
                <a:latin typeface="Arial" panose="020B0604020202020204"/>
              </a:rPr>
              <a:t>Clear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objectives for what capabilities the MCP will enable.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E1FA9FC-00A3-2903-5C55-DCC1A2AF4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549352"/>
              </p:ext>
            </p:extLst>
          </p:nvPr>
        </p:nvGraphicFramePr>
        <p:xfrm>
          <a:off x="859376" y="1649414"/>
          <a:ext cx="10473248" cy="444816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618312">
                  <a:extLst>
                    <a:ext uri="{9D8B030D-6E8A-4147-A177-3AD203B41FA5}">
                      <a16:colId xmlns:a16="http://schemas.microsoft.com/office/drawing/2014/main" val="888168150"/>
                    </a:ext>
                  </a:extLst>
                </a:gridCol>
                <a:gridCol w="2618312">
                  <a:extLst>
                    <a:ext uri="{9D8B030D-6E8A-4147-A177-3AD203B41FA5}">
                      <a16:colId xmlns:a16="http://schemas.microsoft.com/office/drawing/2014/main" val="3448515326"/>
                    </a:ext>
                  </a:extLst>
                </a:gridCol>
                <a:gridCol w="2618312">
                  <a:extLst>
                    <a:ext uri="{9D8B030D-6E8A-4147-A177-3AD203B41FA5}">
                      <a16:colId xmlns:a16="http://schemas.microsoft.com/office/drawing/2014/main" val="2462000236"/>
                    </a:ext>
                  </a:extLst>
                </a:gridCol>
                <a:gridCol w="2618312">
                  <a:extLst>
                    <a:ext uri="{9D8B030D-6E8A-4147-A177-3AD203B41FA5}">
                      <a16:colId xmlns:a16="http://schemas.microsoft.com/office/drawing/2014/main" val="2627665148"/>
                    </a:ext>
                  </a:extLst>
                </a:gridCol>
              </a:tblGrid>
              <a:tr h="8816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</a:rPr>
                        <a:t>Capability</a:t>
                      </a:r>
                      <a:endParaRPr lang="en-US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E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</a:rPr>
                        <a:t>Example Interaction</a:t>
                      </a:r>
                      <a:endParaRPr lang="en-US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E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Claude’s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E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Business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78033"/>
                  </a:ext>
                </a:extLst>
              </a:tr>
              <a:tr h="12666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Natural Language Account and Contact Look Up </a:t>
                      </a:r>
                      <a:endParaRPr lang="en-US" sz="1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kern="1200" dirty="0">
                          <a:solidFill>
                            <a:schemeClr val="dk1"/>
                          </a:solidFill>
                          <a:effectLst/>
                        </a:rPr>
                        <a:t>"Pull up the account for Midwest Cardiology Associates" </a:t>
                      </a:r>
                      <a:endParaRPr lang="en-US" sz="14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Claude returns account name, associated contacts, industry, account status, and last activity date.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Replaces manual Salesforce navigation, ad hoc data requests to admins, pre-meeting prep time spent searching the CRM.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587378"/>
                  </a:ext>
                </a:extLst>
              </a:tr>
              <a:tr h="103330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Conversational Case Creation and Updates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"Open a new case for Dr. Patel at Northwestern. Billing dispute, high priority"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Claude creates the Case with Account, Contact, Subject, Priority, and Status fields populated.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Replaces manual case entry, routing through a Salesforce admin, delayed logging of time-sensitive issues.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02048"/>
                  </a:ext>
                </a:extLst>
              </a:tr>
              <a:tr h="126662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Pipeline and Opportunity Visibility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/>
                        <a:t>"What are our open opportunities with device vendors right now?"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Claude returns a list of opportunities with name, stage, expected value, and associated account.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Replaces manual pipeline reviews, Salesforce report generation, waiting on a manager or analyst to pull deal status.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5339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301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78CC-CAD9-4467-6972-678FD653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C2948303-FA48-40D8-3E9C-6C885CAD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solidFill>
                  <a:srgbClr val="000000"/>
                </a:solidFill>
              </a:rPr>
              <a:t>Implementation with Salesforce</a:t>
            </a:r>
            <a:br>
              <a:rPr lang="en-US" sz="6000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78267B45-F95C-C797-AE8A-B37A9A185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08C284-B302-3575-7C23-C32D66769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76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5CD4-1B9B-BB6E-7A57-BF243B0E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2">
            <a:extLst>
              <a:ext uri="{FF2B5EF4-FFF2-40B4-BE49-F238E27FC236}">
                <a16:creationId xmlns:a16="http://schemas.microsoft.com/office/drawing/2014/main" id="{583268A5-C2EA-1E4B-D1BF-5C81A3AD4C3E}"/>
              </a:ext>
            </a:extLst>
          </p:cNvPr>
          <p:cNvSpPr/>
          <p:nvPr/>
        </p:nvSpPr>
        <p:spPr>
          <a:xfrm>
            <a:off x="6154059" y="3052595"/>
            <a:ext cx="5270670" cy="1370754"/>
          </a:xfrm>
          <a:prstGeom prst="roundRect">
            <a:avLst>
              <a:gd name="adj" fmla="val 50000"/>
            </a:avLst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C94E3AAF-73F7-8C30-06FB-3EB75467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642717-B606-D0C8-54E8-A2FDB4240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99BB063-FF00-23D5-36F0-50D402933023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30AE3124-E748-0D90-B070-0BAE71299C96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946B8900-1ECB-BAEC-E0AF-E209F5896A10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B89FE25C-AFB6-0C27-1CA5-20C911D619AA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2FD1872-A466-D1FB-DF03-F1E186F8D764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Install and use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Claude 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to understand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945E4EC7-90D4-4D83-0157-BC3B5368BFA0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411DB036-53D0-5909-3B08-41A0EC20E32B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1E37EE38-4726-79C5-78AF-FAEA6258301D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AC19F951-65BC-0244-7C93-ACBD76E524F0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57BE9715-8104-474E-226D-77B51906823A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1AADDB95-FBD4-077C-D368-85CD9F237CEA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66E5FC92-86F9-66EE-0D99-330457070091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3B499AA7-57D2-C765-6525-FDBB393E7B72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D2B21500-5A08-2CDD-3C8A-DCC21B7B785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BF844B95-BFE3-A216-C0C8-B6FFC2CF7755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9E28EE1D-B034-FA22-1B6C-742920D7AE9F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9E127ADD-57DF-1808-C1DC-6F234F0256C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387C8376-1B18-6B34-563B-6AF1B1258E5F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8350EF5D-21EA-53C6-62D0-5CF807A1FC1E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15DDAECD-698C-4A94-E434-6A35EE7E74CE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A72EAC7-476E-5064-8C50-5C3938EB6228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87545F-AD1C-E96C-3DF0-C46314C67137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C704E90-7549-0801-2E15-A19F35E721AA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AEE88E-1550-99AD-91E4-ED06AE005B55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838A99A-EF7F-BEB9-D68C-4E7D3A398FB8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9F7335-00A0-93AF-2A38-244E9D3CB0D8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B54E90-567D-D737-9FEE-59794531B76B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Research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Salesforce API requirements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41BA64-7017-DC08-AA75-A62BD584B822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Establish clear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objectives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what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capabilities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23FF58-FE19-B70F-6A77-84C7313C2130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Implement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functionality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with at least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Salesforce functions.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60F1C5-BB7D-5F63-36CA-AA257D064F8A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Define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requirements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scope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my MCP server implementation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Healthcare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3FC5E9-7DB4-9C1C-01E0-BE12FB418120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94474245-309A-E2F2-6742-16B5822DC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0C20B185-F058-A409-5B5C-D02D885493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5DFFEDA3-218E-CF93-29DB-A5F69E3FF6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D3831B65-C888-D0B5-8089-F4380940F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9899FEBF-70DB-C091-96DB-B60DEB1763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6012B46E-C49C-D8FF-9178-55DA5CC34C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04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57766-52C3-3204-585E-D727397E7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B291D80F-2A6F-E217-118B-1754CBDE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Connection to Salesforce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CD601-985E-E439-983F-C8F6DE939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7A298-FF1A-4735-7447-456744134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94" y="1465211"/>
            <a:ext cx="3749994" cy="4826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9F4AFD-6B59-7EBB-2200-7D18C0794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766" y="1465211"/>
            <a:ext cx="3819642" cy="48408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C98CD6-00B9-D93F-C265-4423E44F9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786" y="1465212"/>
            <a:ext cx="3592227" cy="4826428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4CB74F2-3BBB-8B8F-07F3-C72D469B4D44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MCP server successful connection to a live Salesforce org and data retrieval.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B9ED6-B448-C272-4763-A74FA305EF9C}"/>
              </a:ext>
            </a:extLst>
          </p:cNvPr>
          <p:cNvSpPr txBox="1"/>
          <p:nvPr/>
        </p:nvSpPr>
        <p:spPr>
          <a:xfrm>
            <a:off x="694944" y="6391653"/>
            <a:ext cx="2583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MCP server queried Salesforce and returned 5 </a:t>
            </a:r>
            <a:r>
              <a:rPr lang="en-US" sz="1000" b="1" dirty="0"/>
              <a:t>account</a:t>
            </a:r>
            <a:r>
              <a:rPr lang="en-US" sz="1000" dirty="0"/>
              <a:t> records.</a:t>
            </a:r>
            <a:endParaRPr lang="en-US" sz="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6EAB1-76C8-1F15-DA61-D6C13A8F066E}"/>
              </a:ext>
            </a:extLst>
          </p:cNvPr>
          <p:cNvSpPr txBox="1"/>
          <p:nvPr/>
        </p:nvSpPr>
        <p:spPr>
          <a:xfrm>
            <a:off x="4723297" y="6383980"/>
            <a:ext cx="2583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MCP server queried Salesforce and returned 5 </a:t>
            </a:r>
            <a:r>
              <a:rPr lang="en-US" sz="1000" b="1" dirty="0"/>
              <a:t>contact</a:t>
            </a:r>
            <a:r>
              <a:rPr lang="en-US" sz="1000" dirty="0"/>
              <a:t> records.</a:t>
            </a:r>
            <a:endParaRPr lang="en-US" sz="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2708B1-E23A-D3FB-C322-965AF7A7C254}"/>
              </a:ext>
            </a:extLst>
          </p:cNvPr>
          <p:cNvSpPr txBox="1"/>
          <p:nvPr/>
        </p:nvSpPr>
        <p:spPr>
          <a:xfrm>
            <a:off x="8751651" y="6383980"/>
            <a:ext cx="2583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MCP server queried Salesforce and returned 5 </a:t>
            </a:r>
            <a:r>
              <a:rPr lang="en-US" sz="1000" b="1" dirty="0"/>
              <a:t>opportunity</a:t>
            </a:r>
            <a:r>
              <a:rPr lang="en-US" sz="1000" dirty="0"/>
              <a:t> records.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588103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519709-C8F7-DB89-E490-2523B35D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615" y="1572733"/>
            <a:ext cx="4646469" cy="3903034"/>
          </a:xfrm>
          <a:prstGeom prst="rect">
            <a:avLst/>
          </a:prstGeom>
          <a:noFill/>
        </p:spPr>
      </p:pic>
      <p:sp>
        <p:nvSpPr>
          <p:cNvPr id="14" name="Title 3">
            <a:extLst>
              <a:ext uri="{FF2B5EF4-FFF2-40B4-BE49-F238E27FC236}">
                <a16:creationId xmlns:a16="http://schemas.microsoft.com/office/drawing/2014/main" id="{5698390F-F462-D0A4-FFE3-1176C0B2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676653"/>
          </a:xfrm>
        </p:spPr>
        <p:txBody>
          <a:bodyPr/>
          <a:lstStyle/>
          <a:p>
            <a:r>
              <a:rPr lang="en-US" dirty="0"/>
              <a:t>Capability 1 - Query Account and Contact Records </a:t>
            </a:r>
            <a:br>
              <a:rPr lang="en-US" dirty="0"/>
            </a:b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8377F7F-855C-90CB-098B-6090CDF46C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1402" y="2422762"/>
            <a:ext cx="3423867" cy="26159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  <a:p>
            <a:r>
              <a:rPr lang="en-US" sz="1600" dirty="0"/>
              <a:t>Asked Claude to pull up account information. </a:t>
            </a:r>
          </a:p>
          <a:p>
            <a:r>
              <a:rPr lang="en-US" sz="1600" dirty="0"/>
              <a:t>Provided client overview and key contact information.</a:t>
            </a:r>
          </a:p>
          <a:p>
            <a:r>
              <a:rPr lang="en-US" sz="1600" dirty="0"/>
              <a:t>Essential for when you’re about to hop on a call and don’t want to walk in blind.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486F4-66B8-571E-7444-E8FE49D0A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07165E6F-54ED-4977-A15E-D44BE7238A65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B20463-F75F-6ADD-48B7-E217A4993EA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14309" y="2307462"/>
            <a:ext cx="2658051" cy="425774"/>
          </a:xfrm>
          <a:prstGeom prst="roundRect">
            <a:avLst/>
          </a:prstGeom>
          <a:solidFill>
            <a:srgbClr val="021E51"/>
          </a:solidFill>
        </p:spPr>
        <p:txBody>
          <a:bodyPr anchor="b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Who am I working with? </a:t>
            </a:r>
          </a:p>
        </p:txBody>
      </p:sp>
    </p:spTree>
    <p:extLst>
      <p:ext uri="{BB962C8B-B14F-4D97-AF65-F5344CB8AC3E}">
        <p14:creationId xmlns:p14="http://schemas.microsoft.com/office/powerpoint/2010/main" val="4004382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BCCE5-0858-7698-CD65-038CA75E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79C0F761-42A7-DF89-B8F6-BDEC7024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676653"/>
          </a:xfrm>
        </p:spPr>
        <p:txBody>
          <a:bodyPr/>
          <a:lstStyle/>
          <a:p>
            <a:r>
              <a:rPr lang="en-US" dirty="0"/>
              <a:t>Capability 2 – Create and Update Cases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21B28-8BBF-1A83-7EA1-FCE98ADCF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07165E6F-54ED-4977-A15E-D44BE7238A65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36738E-6DE6-CCF3-4F18-CC97F1EFE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348" y="1532993"/>
            <a:ext cx="5448580" cy="3346622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B86FA2A-EBE4-A2BD-FB87-27624A7F63CB}"/>
              </a:ext>
            </a:extLst>
          </p:cNvPr>
          <p:cNvSpPr txBox="1">
            <a:spLocks/>
          </p:cNvSpPr>
          <p:nvPr/>
        </p:nvSpPr>
        <p:spPr>
          <a:xfrm>
            <a:off x="1031402" y="2422762"/>
            <a:ext cx="3423867" cy="26159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182880" bIns="0" rtlCol="0">
            <a:noAutofit/>
          </a:bodyPr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1600" dirty="0"/>
              <a:t>Asked Claude to pull up create a case in Salesforce due to an ad hoc request. </a:t>
            </a:r>
          </a:p>
          <a:p>
            <a:r>
              <a:rPr lang="en-US" sz="1600" dirty="0"/>
              <a:t>Saved time from manually entering data and logging information in excel trackers.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CF58F1E-C693-B5B8-DC8B-7DBC608A97C0}"/>
              </a:ext>
            </a:extLst>
          </p:cNvPr>
          <p:cNvSpPr txBox="1">
            <a:spLocks/>
          </p:cNvSpPr>
          <p:nvPr/>
        </p:nvSpPr>
        <p:spPr>
          <a:xfrm>
            <a:off x="1414309" y="2140733"/>
            <a:ext cx="2658051" cy="592503"/>
          </a:xfrm>
          <a:prstGeom prst="roundRect">
            <a:avLst/>
          </a:prstGeom>
          <a:solidFill>
            <a:srgbClr val="021E51"/>
          </a:solidFill>
        </p:spPr>
        <p:txBody>
          <a:bodyPr vert="horz" wrap="square" lIns="0" tIns="0" rIns="0" bIns="9144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</a:rPr>
              <a:t>What are we currently working on?</a:t>
            </a:r>
          </a:p>
        </p:txBody>
      </p:sp>
    </p:spTree>
    <p:extLst>
      <p:ext uri="{BB962C8B-B14F-4D97-AF65-F5344CB8AC3E}">
        <p14:creationId xmlns:p14="http://schemas.microsoft.com/office/powerpoint/2010/main" val="4079594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748C-C1BC-F9AB-7B80-D22B73C3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94F54581-62F9-BC34-B498-980CCD2D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676653"/>
          </a:xfrm>
        </p:spPr>
        <p:txBody>
          <a:bodyPr/>
          <a:lstStyle/>
          <a:p>
            <a:r>
              <a:rPr lang="en-US" dirty="0"/>
              <a:t>Capability 3 – Query Opportunities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DAD8-413F-C2D6-C157-DDB15BB51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397" y="6433754"/>
            <a:ext cx="531946" cy="36512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07165E6F-54ED-4977-A15E-D44BE7238A65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009860-16C1-AE87-3763-344DD513A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83" y="1263536"/>
            <a:ext cx="2849153" cy="4511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657EE-2702-64D8-C69C-9564AE5F6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833" y="1143000"/>
            <a:ext cx="3253480" cy="4752633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BB442F4-59D3-2B96-2DE6-AB524966688D}"/>
              </a:ext>
            </a:extLst>
          </p:cNvPr>
          <p:cNvSpPr txBox="1">
            <a:spLocks/>
          </p:cNvSpPr>
          <p:nvPr/>
        </p:nvSpPr>
        <p:spPr>
          <a:xfrm>
            <a:off x="1031402" y="2422761"/>
            <a:ext cx="3423867" cy="29079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182880" bIns="0" rtlCol="0">
            <a:noAutofit/>
          </a:bodyPr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150" indent="-204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1600" dirty="0"/>
              <a:t>Looking down the pipeline at every open deal currently in Salesforce. </a:t>
            </a:r>
          </a:p>
          <a:p>
            <a:r>
              <a:rPr lang="en-US" sz="1600" dirty="0"/>
              <a:t>Automatically sorted it by value.</a:t>
            </a:r>
          </a:p>
          <a:p>
            <a:r>
              <a:rPr lang="en-US" sz="1600" dirty="0"/>
              <a:t>Provided total pipeline value.</a:t>
            </a:r>
          </a:p>
          <a:p>
            <a:r>
              <a:rPr lang="en-US" sz="1600" dirty="0"/>
              <a:t>Good overview of leads to pursue. 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7CF1370-B7F2-7F21-3948-5A8E593CC679}"/>
              </a:ext>
            </a:extLst>
          </p:cNvPr>
          <p:cNvSpPr txBox="1">
            <a:spLocks/>
          </p:cNvSpPr>
          <p:nvPr/>
        </p:nvSpPr>
        <p:spPr>
          <a:xfrm>
            <a:off x="1414309" y="2140733"/>
            <a:ext cx="2658051" cy="592503"/>
          </a:xfrm>
          <a:prstGeom prst="roundRect">
            <a:avLst/>
          </a:prstGeom>
          <a:solidFill>
            <a:srgbClr val="021E51"/>
          </a:solidFill>
        </p:spPr>
        <p:txBody>
          <a:bodyPr vert="horz" wrap="square" lIns="0" tIns="0" rIns="0" bIns="9144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18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</a:rPr>
              <a:t>What are the future opportunities?</a:t>
            </a:r>
          </a:p>
        </p:txBody>
      </p:sp>
    </p:spTree>
    <p:extLst>
      <p:ext uri="{BB962C8B-B14F-4D97-AF65-F5344CB8AC3E}">
        <p14:creationId xmlns:p14="http://schemas.microsoft.com/office/powerpoint/2010/main" val="740830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6724-0E70-574B-4580-7F32BBEE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2ADDBA45-7C5D-45B4-6195-EDD08048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solidFill>
                  <a:srgbClr val="000000"/>
                </a:solidFill>
              </a:rPr>
              <a:t>Technical Decisions &amp; </a:t>
            </a:r>
            <a:br>
              <a:rPr lang="en-US" sz="6000" dirty="0">
                <a:solidFill>
                  <a:srgbClr val="000000"/>
                </a:solidFill>
              </a:rPr>
            </a:br>
            <a:r>
              <a:rPr lang="en-US" sz="6000" dirty="0">
                <a:solidFill>
                  <a:srgbClr val="000000"/>
                </a:solidFill>
              </a:rPr>
              <a:t>Trade-offs</a:t>
            </a:r>
            <a:endParaRPr lang="en-US" dirty="0"/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817F76F4-8F94-1D6D-590F-EB3D063298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7D7A94-C411-C79D-FC56-EC9E87E19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03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4ED9-D982-3709-4299-A32DC18C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2">
            <a:extLst>
              <a:ext uri="{FF2B5EF4-FFF2-40B4-BE49-F238E27FC236}">
                <a16:creationId xmlns:a16="http://schemas.microsoft.com/office/drawing/2014/main" id="{440ADB38-677D-4C8B-CE39-D4F75665D638}"/>
              </a:ext>
            </a:extLst>
          </p:cNvPr>
          <p:cNvSpPr/>
          <p:nvPr/>
        </p:nvSpPr>
        <p:spPr>
          <a:xfrm>
            <a:off x="6164190" y="4475158"/>
            <a:ext cx="5270670" cy="1370754"/>
          </a:xfrm>
          <a:prstGeom prst="roundRect">
            <a:avLst>
              <a:gd name="adj" fmla="val 50000"/>
            </a:avLst>
          </a:prstGeom>
          <a:solidFill>
            <a:srgbClr val="021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9" name="Title 448">
            <a:extLst>
              <a:ext uri="{FF2B5EF4-FFF2-40B4-BE49-F238E27FC236}">
                <a16:creationId xmlns:a16="http://schemas.microsoft.com/office/drawing/2014/main" id="{5C5A678E-5E26-D0E4-8B2B-9E0232F4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F312B1-194B-DFC4-6862-9F859E3C2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165E6F-54ED-4977-A15E-D44BE7238A6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FE7A4AF3-B8E0-9B13-0285-D55D4F0655B5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Active’s six technical assessment objectives.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FEED588D-AF91-21BA-02BA-19D17F5A0261}"/>
              </a:ext>
            </a:extLst>
          </p:cNvPr>
          <p:cNvGrpSpPr/>
          <p:nvPr/>
        </p:nvGrpSpPr>
        <p:grpSpPr>
          <a:xfrm>
            <a:off x="791374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5" name="Rounded Rectangle 37">
              <a:extLst>
                <a:ext uri="{FF2B5EF4-FFF2-40B4-BE49-F238E27FC236}">
                  <a16:creationId xmlns:a16="http://schemas.microsoft.com/office/drawing/2014/main" id="{AAA90EB4-361C-0C6E-808D-A6711B6ADD23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Rounded Rectangle 32">
              <a:extLst>
                <a:ext uri="{FF2B5EF4-FFF2-40B4-BE49-F238E27FC236}">
                  <a16:creationId xmlns:a16="http://schemas.microsoft.com/office/drawing/2014/main" id="{83154E9C-ABC2-AAD0-70DD-6874E4BCBDA5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381C83-45B6-53E8-E1DD-4DCF762353D8}"/>
              </a:ext>
            </a:extLst>
          </p:cNvPr>
          <p:cNvSpPr txBox="1"/>
          <p:nvPr/>
        </p:nvSpPr>
        <p:spPr>
          <a:xfrm>
            <a:off x="1817632" y="1880797"/>
            <a:ext cx="3556396" cy="8703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Install and use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Claude Code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to understand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capabilities firsthand. 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41D1A260-2374-F74C-DA48-7B3F4C2D5EC0}"/>
              </a:ext>
            </a:extLst>
          </p:cNvPr>
          <p:cNvGrpSpPr/>
          <p:nvPr/>
        </p:nvGrpSpPr>
        <p:grpSpPr>
          <a:xfrm>
            <a:off x="791374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9" name="Rounded Rectangle 48">
              <a:extLst>
                <a:ext uri="{FF2B5EF4-FFF2-40B4-BE49-F238E27FC236}">
                  <a16:creationId xmlns:a16="http://schemas.microsoft.com/office/drawing/2014/main" id="{1EAC6FFF-1781-1952-2F66-35B3A22082FA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ounded Rectangle 49">
              <a:extLst>
                <a:ext uri="{FF2B5EF4-FFF2-40B4-BE49-F238E27FC236}">
                  <a16:creationId xmlns:a16="http://schemas.microsoft.com/office/drawing/2014/main" id="{CD0690FA-5667-4E51-71D4-F452EF497724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277E150E-728D-88EE-6881-E9A4A9B8791D}"/>
              </a:ext>
            </a:extLst>
          </p:cNvPr>
          <p:cNvGrpSpPr/>
          <p:nvPr/>
        </p:nvGrpSpPr>
        <p:grpSpPr>
          <a:xfrm>
            <a:off x="791374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2" name="Rounded Rectangle 59">
              <a:extLst>
                <a:ext uri="{FF2B5EF4-FFF2-40B4-BE49-F238E27FC236}">
                  <a16:creationId xmlns:a16="http://schemas.microsoft.com/office/drawing/2014/main" id="{0E0988F6-4362-0628-4765-099AFDCAA4B9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ounded Rectangle 63">
              <a:extLst>
                <a:ext uri="{FF2B5EF4-FFF2-40B4-BE49-F238E27FC236}">
                  <a16:creationId xmlns:a16="http://schemas.microsoft.com/office/drawing/2014/main" id="{BBFD74C6-EA6D-CA93-27F8-85B0CA3313B9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73">
            <a:extLst>
              <a:ext uri="{FF2B5EF4-FFF2-40B4-BE49-F238E27FC236}">
                <a16:creationId xmlns:a16="http://schemas.microsoft.com/office/drawing/2014/main" id="{9CC48F8B-1209-2C3A-3C76-EFE6EC83B194}"/>
              </a:ext>
            </a:extLst>
          </p:cNvPr>
          <p:cNvGrpSpPr/>
          <p:nvPr/>
        </p:nvGrpSpPr>
        <p:grpSpPr>
          <a:xfrm flipH="1">
            <a:off x="6305413" y="1787407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5" name="Rounded Rectangle 74">
              <a:extLst>
                <a:ext uri="{FF2B5EF4-FFF2-40B4-BE49-F238E27FC236}">
                  <a16:creationId xmlns:a16="http://schemas.microsoft.com/office/drawing/2014/main" id="{18DC75A4-8AD6-565A-FC43-0FB393B217B1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Rounded Rectangle 75">
              <a:extLst>
                <a:ext uri="{FF2B5EF4-FFF2-40B4-BE49-F238E27FC236}">
                  <a16:creationId xmlns:a16="http://schemas.microsoft.com/office/drawing/2014/main" id="{C78376DD-2D31-BA0E-9903-6B62C8235768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DBD96F1C-7BCA-5067-D496-0900A045962D}"/>
              </a:ext>
            </a:extLst>
          </p:cNvPr>
          <p:cNvGrpSpPr/>
          <p:nvPr/>
        </p:nvGrpSpPr>
        <p:grpSpPr>
          <a:xfrm flipH="1">
            <a:off x="6305413" y="3196633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18" name="Rounded Rectangle 82">
              <a:extLst>
                <a:ext uri="{FF2B5EF4-FFF2-40B4-BE49-F238E27FC236}">
                  <a16:creationId xmlns:a16="http://schemas.microsoft.com/office/drawing/2014/main" id="{F19347DE-9F5D-EB76-6D4C-7C27F56B9AAF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Rounded Rectangle 83">
              <a:extLst>
                <a:ext uri="{FF2B5EF4-FFF2-40B4-BE49-F238E27FC236}">
                  <a16:creationId xmlns:a16="http://schemas.microsoft.com/office/drawing/2014/main" id="{E183FFD3-8274-B580-C121-2D3C7F353338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0" name="Group 89">
            <a:extLst>
              <a:ext uri="{FF2B5EF4-FFF2-40B4-BE49-F238E27FC236}">
                <a16:creationId xmlns:a16="http://schemas.microsoft.com/office/drawing/2014/main" id="{85F50D1E-3673-C424-668E-18901C030107}"/>
              </a:ext>
            </a:extLst>
          </p:cNvPr>
          <p:cNvGrpSpPr/>
          <p:nvPr/>
        </p:nvGrpSpPr>
        <p:grpSpPr>
          <a:xfrm flipH="1">
            <a:off x="6305413" y="4616388"/>
            <a:ext cx="4967963" cy="1088295"/>
            <a:chOff x="644107" y="1330751"/>
            <a:chExt cx="3725972" cy="816221"/>
          </a:xfrm>
          <a:solidFill>
            <a:schemeClr val="bg1">
              <a:lumMod val="95000"/>
            </a:schemeClr>
          </a:solidFill>
        </p:grpSpPr>
        <p:sp>
          <p:nvSpPr>
            <p:cNvPr id="21" name="Rounded Rectangle 90">
              <a:extLst>
                <a:ext uri="{FF2B5EF4-FFF2-40B4-BE49-F238E27FC236}">
                  <a16:creationId xmlns:a16="http://schemas.microsoft.com/office/drawing/2014/main" id="{3CD94035-E8B1-FCC7-59C1-817C261CF348}"/>
                </a:ext>
              </a:extLst>
            </p:cNvPr>
            <p:cNvSpPr/>
            <p:nvPr/>
          </p:nvSpPr>
          <p:spPr>
            <a:xfrm>
              <a:off x="644107" y="1384863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Rounded Rectangle 91">
              <a:extLst>
                <a:ext uri="{FF2B5EF4-FFF2-40B4-BE49-F238E27FC236}">
                  <a16:creationId xmlns:a16="http://schemas.microsoft.com/office/drawing/2014/main" id="{4A0F0988-D20A-F68E-52E4-18F496B89B90}"/>
                </a:ext>
              </a:extLst>
            </p:cNvPr>
            <p:cNvSpPr/>
            <p:nvPr/>
          </p:nvSpPr>
          <p:spPr>
            <a:xfrm>
              <a:off x="644107" y="1330751"/>
              <a:ext cx="3725972" cy="76210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81713C10-E1AC-1321-80FC-9E183F10EDFB}"/>
              </a:ext>
            </a:extLst>
          </p:cNvPr>
          <p:cNvSpPr>
            <a:spLocks noChangeAspect="1"/>
          </p:cNvSpPr>
          <p:nvPr/>
        </p:nvSpPr>
        <p:spPr>
          <a:xfrm>
            <a:off x="912819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16BA9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89C65A-8C9E-EE54-7C40-FD04A898F35F}"/>
              </a:ext>
            </a:extLst>
          </p:cNvPr>
          <p:cNvSpPr>
            <a:spLocks noChangeAspect="1"/>
          </p:cNvSpPr>
          <p:nvPr/>
        </p:nvSpPr>
        <p:spPr>
          <a:xfrm>
            <a:off x="912819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21E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09BB53-EEB2-EBC9-7D74-FBCC0D8B3A57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3329731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7881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4A1C83E-007E-1D1F-D07C-54E17DCF6B35}"/>
              </a:ext>
            </a:extLst>
          </p:cNvPr>
          <p:cNvSpPr>
            <a:spLocks noChangeAspect="1"/>
          </p:cNvSpPr>
          <p:nvPr/>
        </p:nvSpPr>
        <p:spPr>
          <a:xfrm>
            <a:off x="912819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776C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2FBD85F-8F08-F4F6-1F3B-2D39E6B73464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4749486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ED25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16C47C3-389A-8810-754C-B3B811528832}"/>
              </a:ext>
            </a:extLst>
          </p:cNvPr>
          <p:cNvSpPr>
            <a:spLocks noChangeAspect="1"/>
          </p:cNvSpPr>
          <p:nvPr/>
        </p:nvSpPr>
        <p:spPr>
          <a:xfrm flipH="1">
            <a:off x="10395318" y="1920505"/>
            <a:ext cx="772051" cy="7499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EBB21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352F50-18AD-6B6D-61A1-7AD1D07A349C}"/>
              </a:ext>
            </a:extLst>
          </p:cNvPr>
          <p:cNvSpPr txBox="1"/>
          <p:nvPr/>
        </p:nvSpPr>
        <p:spPr>
          <a:xfrm>
            <a:off x="1848009" y="3273371"/>
            <a:ext cx="3526019" cy="9394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Research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Salesforce API requirements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and authentication patterns.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34533B-8973-9D0A-6B08-60A9DA976D05}"/>
              </a:ext>
            </a:extLst>
          </p:cNvPr>
          <p:cNvSpPr txBox="1"/>
          <p:nvPr/>
        </p:nvSpPr>
        <p:spPr>
          <a:xfrm>
            <a:off x="6964747" y="1938973"/>
            <a:ext cx="3318639" cy="749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Establish clear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objectives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what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capabilities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the MCP will enable.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3EF049-C640-E8B4-48FF-6747E778FE55}"/>
              </a:ext>
            </a:extLst>
          </p:cNvPr>
          <p:cNvSpPr txBox="1"/>
          <p:nvPr/>
        </p:nvSpPr>
        <p:spPr>
          <a:xfrm>
            <a:off x="6815972" y="3337985"/>
            <a:ext cx="3467414" cy="74994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Implement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core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MCP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functionality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with at least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Salesforce functions.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5B61BB-935E-8312-AA76-E3409A32BE01}"/>
              </a:ext>
            </a:extLst>
          </p:cNvPr>
          <p:cNvSpPr txBox="1"/>
          <p:nvPr/>
        </p:nvSpPr>
        <p:spPr>
          <a:xfrm>
            <a:off x="1848009" y="4616388"/>
            <a:ext cx="3446667" cy="1088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rgbClr val="000000"/>
                </a:solidFill>
                <a:ea typeface="Times New Roman" panose="02020603050405020304" pitchFamily="18" charset="0"/>
                <a:cs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Define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requirements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scope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for my MCP server implementation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Healthcare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  <a:t> clients and use cases.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6EEB53-36A7-2745-E328-A1DF1636F5F8}"/>
              </a:ext>
            </a:extLst>
          </p:cNvPr>
          <p:cNvSpPr txBox="1"/>
          <p:nvPr/>
        </p:nvSpPr>
        <p:spPr>
          <a:xfrm>
            <a:off x="6964747" y="4720854"/>
            <a:ext cx="3386957" cy="8793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Document your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technical decisions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trade-offs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</a:p>
        </p:txBody>
      </p:sp>
      <p:pic>
        <p:nvPicPr>
          <p:cNvPr id="34" name="Graphic 33" descr="Connected with solid fill">
            <a:extLst>
              <a:ext uri="{FF2B5EF4-FFF2-40B4-BE49-F238E27FC236}">
                <a16:creationId xmlns:a16="http://schemas.microsoft.com/office/drawing/2014/main" id="{01A1C1A1-FF3C-DE02-E227-1C1A07725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558" y="1988740"/>
            <a:ext cx="605212" cy="605212"/>
          </a:xfrm>
          <a:prstGeom prst="rect">
            <a:avLst/>
          </a:prstGeom>
        </p:spPr>
      </p:pic>
      <p:pic>
        <p:nvPicPr>
          <p:cNvPr id="37" name="Graphic 36" descr="Gears with solid fill">
            <a:extLst>
              <a:ext uri="{FF2B5EF4-FFF2-40B4-BE49-F238E27FC236}">
                <a16:creationId xmlns:a16="http://schemas.microsoft.com/office/drawing/2014/main" id="{0F599AEA-26D0-5C86-4D68-6269B9E457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360" y="1964191"/>
            <a:ext cx="652041" cy="65204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88B22320-5614-2932-C30E-26680430BB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4766" y="4787884"/>
            <a:ext cx="632905" cy="632905"/>
          </a:xfrm>
          <a:prstGeom prst="rect">
            <a:avLst/>
          </a:prstGeom>
        </p:spPr>
      </p:pic>
      <p:pic>
        <p:nvPicPr>
          <p:cNvPr id="43" name="Graphic 42" descr="Doctor female with solid fill">
            <a:extLst>
              <a:ext uri="{FF2B5EF4-FFF2-40B4-BE49-F238E27FC236}">
                <a16:creationId xmlns:a16="http://schemas.microsoft.com/office/drawing/2014/main" id="{5A13A01D-2769-523E-C493-F2DF460E4E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239" y="4807130"/>
            <a:ext cx="632905" cy="632905"/>
          </a:xfrm>
          <a:prstGeom prst="rect">
            <a:avLst/>
          </a:prstGeom>
        </p:spPr>
      </p:pic>
      <p:pic>
        <p:nvPicPr>
          <p:cNvPr id="45" name="Graphic 44" descr="Research with solid fill">
            <a:extLst>
              <a:ext uri="{FF2B5EF4-FFF2-40B4-BE49-F238E27FC236}">
                <a16:creationId xmlns:a16="http://schemas.microsoft.com/office/drawing/2014/main" id="{F580C2E1-8833-F4E1-E705-26C70C24A7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865" y="3369918"/>
            <a:ext cx="632905" cy="632905"/>
          </a:xfrm>
          <a:prstGeom prst="rect">
            <a:avLst/>
          </a:prstGeom>
        </p:spPr>
      </p:pic>
      <p:pic>
        <p:nvPicPr>
          <p:cNvPr id="47" name="Graphic 46" descr="Programmer female with solid fill">
            <a:extLst>
              <a:ext uri="{FF2B5EF4-FFF2-40B4-BE49-F238E27FC236}">
                <a16:creationId xmlns:a16="http://schemas.microsoft.com/office/drawing/2014/main" id="{44143794-9380-CFAD-32C3-71587FC262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61678" y="3362193"/>
            <a:ext cx="632905" cy="6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19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13C93-D397-8AB1-59A5-154B3927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itle 448">
            <a:extLst>
              <a:ext uri="{FF2B5EF4-FFF2-40B4-BE49-F238E27FC236}">
                <a16:creationId xmlns:a16="http://schemas.microsoft.com/office/drawing/2014/main" id="{7ED28182-7977-BFC4-EB84-8A14BF7E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Decisions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0999FB-8844-4622-5074-DE29EB48D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ECAD83C3-2CF1-A5AC-BB79-29A02F64686F}"/>
              </a:ext>
            </a:extLst>
          </p:cNvPr>
          <p:cNvSpPr txBox="1">
            <a:spLocks/>
          </p:cNvSpPr>
          <p:nvPr/>
        </p:nvSpPr>
        <p:spPr>
          <a:xfrm>
            <a:off x="704087" y="972762"/>
            <a:ext cx="10811256" cy="506413"/>
          </a:xfrm>
          <a:prstGeom prst="rect">
            <a:avLst/>
          </a:prstGeom>
        </p:spPr>
        <p:txBody>
          <a:bodyPr/>
          <a:lstStyle>
            <a:lvl1pPr marL="219456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891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1792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1248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60704" indent="-21945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Technical justification for decisions made during my execution of Active’s technical assessment.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4060AF-7F25-6CD0-595C-866D7B85F534}"/>
              </a:ext>
            </a:extLst>
          </p:cNvPr>
          <p:cNvCxnSpPr>
            <a:cxnSpLocks/>
          </p:cNvCxnSpPr>
          <p:nvPr/>
        </p:nvCxnSpPr>
        <p:spPr>
          <a:xfrm>
            <a:off x="364412" y="2720950"/>
            <a:ext cx="11443720" cy="0"/>
          </a:xfrm>
          <a:prstGeom prst="line">
            <a:avLst/>
          </a:prstGeom>
          <a:noFill/>
          <a:ln w="22225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08578CB-5E47-826B-BB7C-9847C817B1C0}"/>
              </a:ext>
            </a:extLst>
          </p:cNvPr>
          <p:cNvSpPr/>
          <p:nvPr/>
        </p:nvSpPr>
        <p:spPr>
          <a:xfrm>
            <a:off x="1706049" y="2540930"/>
            <a:ext cx="360040" cy="36004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5875" cap="flat" cmpd="sng" algn="ctr">
            <a:noFill/>
            <a:prstDash val="solid"/>
          </a:ln>
          <a:effectLst/>
        </p:spPr>
        <p:txBody>
          <a:bodyPr lIns="36000" tIns="72000" rIns="36000" bIns="36000" rtlCol="0" anchor="ctr"/>
          <a:lstStyle/>
          <a:p>
            <a:pPr marL="0" marR="0" lvl="1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kumimoji="0" lang="it-IT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A2FA54-AB7D-630A-626A-115B2C2A37EC}"/>
              </a:ext>
            </a:extLst>
          </p:cNvPr>
          <p:cNvSpPr/>
          <p:nvPr/>
        </p:nvSpPr>
        <p:spPr>
          <a:xfrm rot="10800000" flipV="1">
            <a:off x="9344415" y="2540930"/>
            <a:ext cx="360040" cy="360040"/>
          </a:xfrm>
          <a:prstGeom prst="ellipse">
            <a:avLst/>
          </a:prstGeom>
          <a:solidFill>
            <a:schemeClr val="tx2"/>
          </a:solidFill>
          <a:ln w="15875" cap="flat" cmpd="sng" algn="ctr">
            <a:noFill/>
            <a:prstDash val="solid"/>
          </a:ln>
          <a:effectLst/>
        </p:spPr>
        <p:txBody>
          <a:bodyPr lIns="36000" tIns="72000" rIns="36000" bIns="36000" rtlCol="0" anchor="ctr"/>
          <a:lstStyle/>
          <a:p>
            <a:pPr marL="0" marR="0" lvl="1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000" kern="0">
                <a:solidFill>
                  <a:srgbClr val="FFFFFF"/>
                </a:solidFill>
                <a:latin typeface="Graphik Black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kumimoji="0" lang="it-IT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6A5110-890C-6CEF-5151-F17DCD9D4CC5}"/>
              </a:ext>
            </a:extLst>
          </p:cNvPr>
          <p:cNvSpPr/>
          <p:nvPr/>
        </p:nvSpPr>
        <p:spPr>
          <a:xfrm>
            <a:off x="6798293" y="2540930"/>
            <a:ext cx="360040" cy="36004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5875" cap="flat" cmpd="sng" algn="ctr">
            <a:noFill/>
            <a:prstDash val="solid"/>
          </a:ln>
          <a:effectLst/>
        </p:spPr>
        <p:txBody>
          <a:bodyPr lIns="36000" tIns="72000" rIns="36000" bIns="36000" rtlCol="0" anchor="ctr"/>
          <a:lstStyle/>
          <a:p>
            <a:pPr marL="0" marR="0" lvl="1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kumimoji="0" lang="it-IT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83A30C-7504-61FE-21C9-73BD136D1F4E}"/>
              </a:ext>
            </a:extLst>
          </p:cNvPr>
          <p:cNvSpPr/>
          <p:nvPr/>
        </p:nvSpPr>
        <p:spPr>
          <a:xfrm rot="10800000" flipV="1">
            <a:off x="4252171" y="2540930"/>
            <a:ext cx="360040" cy="3600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5875" cap="flat" cmpd="sng" algn="ctr">
            <a:noFill/>
            <a:prstDash val="solid"/>
          </a:ln>
          <a:effectLst/>
        </p:spPr>
        <p:txBody>
          <a:bodyPr lIns="36000" tIns="72000" rIns="36000" bIns="36000" rtlCol="0" anchor="ctr"/>
          <a:lstStyle/>
          <a:p>
            <a:pPr marL="0" marR="0" lvl="1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kumimoji="0" lang="it-IT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1E955-253E-5E5C-2C81-35DFFD861641}"/>
              </a:ext>
            </a:extLst>
          </p:cNvPr>
          <p:cNvSpPr txBox="1"/>
          <p:nvPr/>
        </p:nvSpPr>
        <p:spPr>
          <a:xfrm>
            <a:off x="1252994" y="1864859"/>
            <a:ext cx="1239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21E51"/>
                </a:solidFill>
              </a:rPr>
              <a:t>REST API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61F59B-0AC6-03DE-4323-495FA7ADD7FE}"/>
              </a:ext>
            </a:extLst>
          </p:cNvPr>
          <p:cNvSpPr txBox="1"/>
          <p:nvPr/>
        </p:nvSpPr>
        <p:spPr>
          <a:xfrm>
            <a:off x="3484555" y="1649415"/>
            <a:ext cx="18952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21E51"/>
                </a:solidFill>
              </a:rPr>
              <a:t>Username-Password OAuth 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C45B2E-6A06-34B5-DA33-C3BB9AD7837C}"/>
              </a:ext>
            </a:extLst>
          </p:cNvPr>
          <p:cNvSpPr txBox="1"/>
          <p:nvPr/>
        </p:nvSpPr>
        <p:spPr>
          <a:xfrm>
            <a:off x="6036251" y="1757137"/>
            <a:ext cx="1895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21E51"/>
                </a:solidFill>
              </a:rPr>
              <a:t>Scoping Universal Salesforce 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7580D-B7D0-CF83-5EBF-58F4A70A57CE}"/>
              </a:ext>
            </a:extLst>
          </p:cNvPr>
          <p:cNvSpPr txBox="1"/>
          <p:nvPr/>
        </p:nvSpPr>
        <p:spPr>
          <a:xfrm>
            <a:off x="8910390" y="1757137"/>
            <a:ext cx="1239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21E51"/>
                </a:solidFill>
              </a:rPr>
              <a:t>PHI Exclusion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4FBD1E-95A7-5DF9-4C11-7DAF24679DD0}"/>
              </a:ext>
            </a:extLst>
          </p:cNvPr>
          <p:cNvSpPr/>
          <p:nvPr/>
        </p:nvSpPr>
        <p:spPr>
          <a:xfrm>
            <a:off x="3565881" y="3364615"/>
            <a:ext cx="1732620" cy="24912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Used during sandbox.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JWT Bearer does not expose user credentials.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JWT Bearer Flow is used in production.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E34C37-849F-6092-AE0E-1D075E1C8969}"/>
              </a:ext>
            </a:extLst>
          </p:cNvPr>
          <p:cNvSpPr/>
          <p:nvPr/>
        </p:nvSpPr>
        <p:spPr>
          <a:xfrm>
            <a:off x="8752109" y="3373385"/>
            <a:ext cx="1732620" cy="24912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9863A5-6334-3D33-DB7D-EDB8B2E9DF25}"/>
              </a:ext>
            </a:extLst>
          </p:cNvPr>
          <p:cNvSpPr/>
          <p:nvPr/>
        </p:nvSpPr>
        <p:spPr>
          <a:xfrm>
            <a:off x="6158995" y="3389963"/>
            <a:ext cx="1732620" cy="24912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753D6D-6D8D-8CA3-7389-48C759D71023}"/>
              </a:ext>
            </a:extLst>
          </p:cNvPr>
          <p:cNvSpPr/>
          <p:nvPr/>
        </p:nvSpPr>
        <p:spPr>
          <a:xfrm>
            <a:off x="972767" y="3389963"/>
            <a:ext cx="1732620" cy="24912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Multiple API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RST API is modern and widely documented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SOAP API is 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Bulk API is design for mass operations.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35E88C-4F5D-1200-364F-51B67DB8EB19}"/>
              </a:ext>
            </a:extLst>
          </p:cNvPr>
          <p:cNvSpPr txBox="1"/>
          <p:nvPr/>
        </p:nvSpPr>
        <p:spPr>
          <a:xfrm>
            <a:off x="6299079" y="3726139"/>
            <a:ext cx="13485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My selections are present in almost every Salesforce org.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Makes MCP server portable across client environments.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ED6123-0D85-6895-35B6-8292A1CF4AAB}"/>
              </a:ext>
            </a:extLst>
          </p:cNvPr>
          <p:cNvSpPr txBox="1"/>
          <p:nvPr/>
        </p:nvSpPr>
        <p:spPr>
          <a:xfrm>
            <a:off x="8944158" y="3726139"/>
            <a:ext cx="13485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Excluded Protected Health Information.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Both technical and risk management decision.</a:t>
            </a:r>
          </a:p>
        </p:txBody>
      </p:sp>
    </p:spTree>
    <p:extLst>
      <p:ext uri="{BB962C8B-B14F-4D97-AF65-F5344CB8AC3E}">
        <p14:creationId xmlns:p14="http://schemas.microsoft.com/office/powerpoint/2010/main" val="2544388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2328-A232-E054-1E9D-ABD4AAFC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447">
            <a:extLst>
              <a:ext uri="{FF2B5EF4-FFF2-40B4-BE49-F238E27FC236}">
                <a16:creationId xmlns:a16="http://schemas.microsoft.com/office/drawing/2014/main" id="{FEBF9243-D4FD-B899-2F47-B02DF942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49" name="Text Placeholder 448">
            <a:extLst>
              <a:ext uri="{FF2B5EF4-FFF2-40B4-BE49-F238E27FC236}">
                <a16:creationId xmlns:a16="http://schemas.microsoft.com/office/drawing/2014/main" id="{AA9C4F82-C49C-023E-B310-87CD0A942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E1678D-9CB3-2F5B-6EAA-B6FFC4AED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165E6F-54ED-4977-A15E-D44BE7238A6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563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RTX Corporation (Corporate) - Company Use"/>
  <p:tag name="BJHEADERFOOTERTEXTMARKING" val="RTX Corporation (Corporate) - Company U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RTX Corporation (Corporate) - Company Use"/>
  <p:tag name="BJHEADERFOOTERTEXTMARKING" val="RTX Corporation (Corporate) - Company Use"/>
</p:tagLst>
</file>

<file path=ppt/theme/theme1.xml><?xml version="1.0" encoding="utf-8"?>
<a:theme xmlns:a="http://schemas.openxmlformats.org/drawingml/2006/main" name="ES Covers - taglin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 RTX Slide Master" id="{AC9616DE-E778-47BC-AFE8-4CFB747F330F}" vid="{42455B07-55CF-4BB2-AD8C-D975122857E9}"/>
    </a:ext>
  </a:extLst>
</a:theme>
</file>

<file path=ppt/theme/theme2.xml><?xml version="1.0" encoding="utf-8"?>
<a:theme xmlns:a="http://schemas.openxmlformats.org/drawingml/2006/main" name="ES Covers - no taglin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 RTX Slide Master" id="{AC9616DE-E778-47BC-AFE8-4CFB747F330F}" vid="{5E187336-99AD-4855-B37A-D0FC63090BB4}"/>
    </a:ext>
  </a:extLst>
</a:theme>
</file>

<file path=ppt/theme/theme3.xml><?xml version="1.0" encoding="utf-8"?>
<a:theme xmlns:a="http://schemas.openxmlformats.org/drawingml/2006/main" name="ES Content - taglin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 RTX Slide Master" id="{AC9616DE-E778-47BC-AFE8-4CFB747F330F}" vid="{BFD09896-6FC1-454F-BF35-0ABD70DFA6A0}"/>
    </a:ext>
  </a:extLst>
</a:theme>
</file>

<file path=ppt/theme/theme4.xml><?xml version="1.0" encoding="utf-8"?>
<a:theme xmlns:a="http://schemas.openxmlformats.org/drawingml/2006/main" name="ES Content - no taglin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 RTX Slide Master" id="{AC9616DE-E778-47BC-AFE8-4CFB747F330F}" vid="{8D8D9E0F-397F-4A59-910F-0D24301BF0D5}"/>
    </a:ext>
  </a:extLst>
</a:theme>
</file>

<file path=ppt/theme/theme5.xml><?xml version="1.0" encoding="utf-8"?>
<a:theme xmlns:a="http://schemas.openxmlformats.org/drawingml/2006/main" name="ES Section Breakers - taglin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 RTX Slide Master" id="{AC9616DE-E778-47BC-AFE8-4CFB747F330F}" vid="{4D25BC42-96B5-40C4-97DD-516CD2A26C01}"/>
    </a:ext>
  </a:extLst>
</a:theme>
</file>

<file path=ppt/theme/theme6.xml><?xml version="1.0" encoding="utf-8"?>
<a:theme xmlns:a="http://schemas.openxmlformats.org/drawingml/2006/main" name="ES Section Breakers - no taglin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 RTX Slide Master" id="{AC9616DE-E778-47BC-AFE8-4CFB747F330F}" vid="{F564FB63-2670-4EF3-8A8D-712B54832DB4}"/>
    </a:ext>
  </a:extLst>
</a:theme>
</file>

<file path=ppt/theme/theme7.xml><?xml version="1.0" encoding="utf-8"?>
<a:theme xmlns:a="http://schemas.openxmlformats.org/drawingml/2006/main" name="Office Them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RTX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D9D9D6"/>
      </a:accent1>
      <a:accent2>
        <a:srgbClr val="B1B3B3"/>
      </a:accent2>
      <a:accent3>
        <a:srgbClr val="63666A"/>
      </a:accent3>
      <a:accent4>
        <a:srgbClr val="7BA7BC"/>
      </a:accent4>
      <a:accent5>
        <a:srgbClr val="B7A99A"/>
      </a:accent5>
      <a:accent6>
        <a:srgbClr val="CE1126"/>
      </a:accent6>
      <a:hlink>
        <a:srgbClr val="CE1126"/>
      </a:hlink>
      <a:folHlink>
        <a:srgbClr val="6163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OLATION xmlns="1f014d26-b0c9-4719-9c4e-6e631f7a801d">FALSE</VIOLATION>
  </documentManagement>
</p:properties>
</file>

<file path=customXml/item3.xml><?xml version="1.0" encoding="utf-8"?>
<sisl xmlns:xsi="http://www.w3.org/2001/XMLSchema-instance" xmlns:xsd="http://www.w3.org/2001/XMLSchema" xmlns="http://www.boldonjames.com/2008/01/sie/internal/label" sislVersion="0" policy="cde53ac1-bf5f-4aae-9cf1-07509e23a4b0" origin="userSelected">
  <element uid="dececbd6-da3b-46fe-8f00-f9d9deea2ee1" value=""/>
  <element uid="bba94c65-ac3d-4f34-b2e1-8de11ef6f01c" value=""/>
  <element uid="a06da4da-a263-4136-b4fd-f28a17d30188" value=""/>
  <element uid="bc2b7c01-6db1-4e7d-88d1-fc61674f86fd" value=""/>
  <element uid="92e993a3-af32-4afb-aa19-3a49cdb82c7a" value=""/>
</sisl>
</file>

<file path=customXml/item4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+VVNcbnJwMDI0MTU4MjwvVXNlck5hbWU+PERhdGVUaW1lPjIvMTIvMjAyMCAyOjQ5OjE3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bnJwMDI0MTU4MjwvVXNlck5hbWU+PERhdGVUaW1lPjIvMTIvMjAyMCAzOjAzOjA5IFBNPC9EYXRlVGltZT48TGFiZWxTdHJpbmc+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yLzIwMjAgMzoyODo1NyBQTTwvRGF0ZVRpbWU+PExhYmVsU3RyaW5nPk9yaWdpbiBKdXJpc2RpY3Rpb246IFVTICB8IFJheXRoZW9uIFByb3ByaWV0YXJ5IHwgUGVyIEN1cnJlbnQgUmF5dGhlb24gUG9saWN5IChSUC1PR0MtMDM1KSB8IFVTLUlUQVIgQ29udHJvbGx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yLzE0LzIwMjAgNDo0Mjo0NCBQTTwvRGF0ZVRpbWU+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0LzIwMjAgNjoyOTozNC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+VVNcbnJwMDI0MTU4MjwvVXNlck5hbWU+PERhdGVUaW1lPjIvMTgvMjAyMCA0OjU4OjI4IFBNPC9EYXRlVGltZT48TGFiZWxTdHJpbmc+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zLzcvMjAyMCA4OjIzOjM2IFBNPC9EYXRlVGltZT48TGFiZWxTdHJpbmc+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y83LzIwMjAgODoyNDo0OS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+PC9zaXNsPjxVc2VyTmFtZT5VU1wxMTAzMDg1PC9Vc2VyTmFtZT48RGF0ZVRpbWU+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gLz48VXNlck5hbWU+VVNcMTEwMzA4NTwvVXNlck5hbWU+PERhdGVUaW1lPjMvMTMvMjAyMCAxMDowMjo0NC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L3Npc2w+PFVzZXJOYW1lPlVTXG5ycDAyNDE1ODI8L1VzZXJOYW1lPjxEYXRlVGltZT4zLzIzLzIwMjAgNzo1ODoxOSBQTTwvRGF0ZVRpbWU+PExhYmVsU3RyaW5nPk9yaWdpbiBKdXJpc2RpY3Rpb246IFVTICB8IEludGVybmFsIFVzZSBPbmx5IHwgUGVyIEN1cnJlbnQgUmF5dGhlb24gUG9saWN5IChSUC1PR0MtMDM1KSB8IE90aGVyIEluZm9ybWF0aW9uIChOb3QgUmVxdWlyaW5nIGFuIEV4cG9ydCBDb250cm9sIE1hcmtpbmcpIHwgTm8gbWFya2luZyBhcHBsaWVkIGJ5IHRoZSB0b29s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GVsZW1lbnQgdWlkPSIxNWZlZmExYy1hZjY3LTRlYmYtYTcxZC1mMDE2MjExNjg5NjIiIHZhbHVlPSIiIHhtbG5zPSJodHRwOi8vd3d3LmJvbGRvbmphbWVzLmNvbS8yMDA4LzAxL3NpZS9pbnRlcm5hbC9sYWJlbCIgLz48ZWxlbWVudCB1aWQ9ImFhZmM5YTk1LWVlNWQtNDg3Yy05YzRlLTY3YTUzODBmMjk5MSIgdmFsdWU9IiIgeG1sbnM9Imh0dHA6Ly93d3cuYm9sZG9uamFtZXMuY29tLzIwMDgvMDEvc2llL2ludGVybmFsL2xhYmVsIiAvPjwvc2lzbD48VXNlck5hbWU+VVNcbnJwMDI0MTU4MjwvVXNlck5hbWU+PERhdGVUaW1lPjMvMjMvMjAyMCA4OjQ4OjA4IFBNPC9EYXRlVGltZT48TGFiZWxTdHJpbmc+T3JpZ2luIEp1cmlzZGljdGlvbjogVVMgIHwgVGhpcmQgUGFydHkgUHJvcHJpZXRhcnkgLSBOZWVkIHRvIEtub3c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iAvPjxVc2VyTmFtZT5VU1wxMTAzMDg1PC9Vc2VyTmFtZT48RGF0ZVRpbWU+My8yMy8yMDIwIDEwOjE1OjQw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G5ycDAyNDE1ODI8L1VzZXJOYW1lPjxEYXRlVGltZT40LzIwLzIwMjAgNDoyOToyMyBQTTwvRGF0ZVRpbWU+PExhYmVsU3RyaW5nPk9yaWdpbiBKdXJpc2RpY3Rpb246IFVTIDwvTGFiZWxTdHJpbmc+PC9pdGVtPjxpdGVtPjxzaXNsIHNpc2xWZXJzaW9uPSIwIiBwb2xpY3k9ImNkZTUzYWMxLWJmNWYtNGFhZS05Y2YxLTA3NTA5ZTIzYTRiMCIgb3JpZ2luPSJ1c2VyU2VsZWN0ZWQiIC8+PFVzZXJOYW1lPlVTXDExMDMwODU8L1VzZXJOYW1lPjxEYXRlVGltZT40LzIwLzIwMjAgNjozMjo1MCBQTTwvRGF0ZVRpbWU+PExhYmVsU3RyaW5nPlRoaXMgYXJ0aWZhY3QgaGFzIG5vIGNsYXNzaWZpY2F0aW9uLjwvTGFiZWxTdHJpbmc+PC9pdGVtPjxpdGVtPjxzaXNsIHNpc2xWZXJzaW9uPSIwIiBwb2xpY3k9ImNkZTUzYWMxLWJmNWYtNGFhZS05Y2YxLTA3NTA5ZTIzYTRiMCIgb3JpZ2luPSJkZWZhdWx0VmFsdWUiPjxlbGVtZW50IHVpZD0iYmJhOTRjNjUtYWMzZC00ZjM0LWIyZTEtOGRlMTFlZjZmMDFjIiB2YWx1ZT0iIiB4bWxucz0iaHR0cDovL3d3dy5ib2xkb25qYW1lcy5jb20vMjAwOC8wMS9zaWUvaW50ZXJuYWwvbGFiZWwiIC8+PC9zaXNsPjxVc2VyTmFtZT5VU1x2YWExMDUwPC9Vc2VyTmFtZT48RGF0ZVRpbWU+MTIvMTYvMjAyMCA1OjIyOjIz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RlY2VjYmQ2LWRhM2ItNDZmZS04ZjAwLWY5ZDlkZWVhMmVlMSIgdmFsdWU9IiIgeG1sbnM9Imh0dHA6Ly93d3cuYm9sZG9uamFtZXMuY29tLzIwMDgvMDEvc2llL2ludGVybmFsL2xhYmVsIiAvPjxlbGVtZW50IHVpZD0iYmJiZjdiZjQtNGY0Zi00MTg5LTljNWUtNjUwMTVkZThhNmFkIiB2YWx1ZT0iIiB4bWxucz0iaHR0cDovL3d3dy5ib2xkb25qYW1lcy5jb20vMjAwOC8wMS9zaWUvaW50ZXJuYWwvbGFiZWwiIC8+PGVsZW1lbnQgdWlkPSJmYjk5MTMwOC1hM2RlLTQwYTgtOTY3Yi0wOTIyMzM0MjQxYmE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dmFhMTA1MDwvVXNlck5hbWU+PERhdGVUaW1lPjEyLzE3LzIwMjAgMTo1NDo0NiBQTTwvRGF0ZVRpbWU+PExhYmVsU3RyaW5nPk9yaWdpbiBKdXJpc2RpY3Rpb246IFVTICB8IFVucmVzdHJpY3RlZCBDb250ZW50IHwgTm8gbWFya2luZyBhcHBsaWVkIGJ5IHRoaXMgdG9vbC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iAvPjxVc2VyTmFtZT5VU1wxMTYxMTEzPC9Vc2VyTmFtZT48RGF0ZVRpbWU+Ni8xLzIwMjMgMjo0OTo1NCBQTTwvRGF0ZVRpbWU+PExhYmVsU3RyaW5nPlRoaXMgYXJ0aWZhY3QgaGFzIG5vIGNsYXNzaWZpY2F0aW9uLjwvTGFiZWxTdHJpbmc+PC9pdGVtPjxpdGVtPjxzaXNsIHNpc2xWZXJzaW9uPSIwIiBwb2xpY3k9ImNkZTUzYWMxLWJmNWYtNGFhZS05Y2YxLTA3NTA5ZTIzYTRiMCIgb3JpZ2luPSJ1c2VyU2VsZWN0ZWQiPjxlbGVtZW50IHVpZD0iZGVjZWNiZDYtZGEzYi00NmZlLThmMDAtZjlkOWRlZWEyZWUxIiB2YWx1ZT0iIiB4bWxucz0iaHR0cDovL3d3dy5ib2xkb25qYW1lcy5jb20vMjAwOC8wMS9zaWUvaW50ZXJuYWwvbGFiZWwiIC8+PGVsZW1lbnQgdWlkPSJhNGE5ZjM4Mi04Y2VjLTQwYmItYTljMy1jMTg3NmRlZDlkZWU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ZDc1OWNkN2EtYjU3Yy00MmU0LTlhNDktOWI4MmEyMzM3NTc5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NjExMTM8L1VzZXJOYW1lPjxEYXRlVGltZT42LzYvMjAyMyA3OjEwOjE1IFBNPC9EYXRlVGltZT48TGFiZWxTdHJpbmc+T3JpZ2luIEp1cmlzZGljdGlvbjogVVMgfCBVbnJlc3RyaWN0ZWQgQ29udGVudCB8IFJheXRoZW9uIFRlY2hub2xvZ2llcyAoQ29ycG9yYXRlIE9ubHkpIHwgTm9uLUV4cG9ydCBDb250cm9sbGVkIFRlY2huaWNhbCBJbmZvcm1hdGlvbiAoRVhJTSBEZXRlcm1pbmVkIE9ubHkpIHwgTm8gbWFya2luZyBhcHBsaWVkIGJ5IHRoZSB0b29s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E0YTlmMzgyLThjZWMtNDBiYi1hOWMzLWMxODc2ZGVkOWRlZSIgdmFsdWU9IiIgeG1sbnM9Imh0dHA6Ly93d3cuYm9sZG9uamFtZXMuY29tLzIwMDgvMDEvc2llL2ludGVybmFsL2xhYmVsIiAvPjwvc2lzbD48VXNlck5hbWU+VVNcMTE2MTExMzwvVXNlck5hbWU+PERhdGVUaW1lPjYvNi8yMDIzIDc6MTA6MzIgUE08L0RhdGVUaW1lPjxMYWJlbFN0cmluZz5PcmlnaW4gSnVyaXNkaWN0aW9uOiBVUyB8IENvbXBhbnkgVXNlL0ludGVybmFsIFVzZSBPbmx5IHwgUmF5dGhlb24gVGVjaG5vbG9naWVzIChDb3Jwb3JhdGUgT25se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IC8+PFVzZXJOYW1lPlVTXDExNjExMTM8L1VzZXJOYW1lPjxEYXRlVGltZT42LzYvMjAyMyA4OjE3OjQwIFBNPC9EYXRlVGltZT48TGFiZWxTdHJpbmc+VGhpcyBhcnRpZmFjdCBoYXMgbm8gY2xhc3NpZmljYXRpb24uPC9MYWJlbFN0cmluZz48L2l0ZW0+PGl0ZW0+PHNpc2wgc2lzbFZlcnNpb249IjAiIHBvbGljeT0iY2RlNTNhYzEtYmY1Zi00YWFlLTljZjEtMDc1MDllMjNhNGIwIiBvcmlnaW49InVzZXJTZWxlY3RlZCI+PGVsZW1lbnQgdWlkPSJhY2Y5ZWNjMy0wZjQ1LTQyMzQtYTkwZC1lNDM2OGZhY2Q5ODEiIHZhbHVlPSIiIHhtbG5zPSJodHRwOi8vd3d3LmJvbGRvbmphbWVzLmNvbS8yMDA4LzAxL3NpZS9pbnRlcm5hbC9sYWJlbCIgLz48ZWxlbWVudCB1aWQ9IjY5ZDAwYWNkLTg5YzQtNDRlMC04NGFlLWU1OGRhMTdmNDg1YyIgdmFsdWU9IiIgeG1sbnM9Imh0dHA6Ly93d3cuYm9sZG9uamFtZXMuY29tLzIwMDgvMDEvc2llL2ludGVybmFsL2xhYmVsIiAvPjxlbGVtZW50IHVpZD0iYmJhOTRjNjUtYWMzZC00ZjM0LWIyZTEtOGRlMTFlZjZmMDFj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TI3ZjY3MWYtMDQ1YS00OWQyLWIyMzgtNGYzY2EyZTBiMGJiIiB2YWx1ZT0iIiB4bWxucz0iaHR0cDovL3d3dy5ib2xkb25qYW1lcy5jb20vMjAwOC8wMS9zaWUvaW50ZXJuYWwvbGFiZWwiIC8+PC9zaXNsPjxVc2VyTmFtZT5BRFhVXEUyMTE2MTExMzwvVXNlck5hbWU+PERhdGVUaW1lPjgvMTQvMjAyMyAxOjUwOjQ2IFBNPC9EYXRlVGltZT48TGFiZWxTdHJpbmc+RXhwb3J0IENvbnRyb2wgQ291bnRyeTogVVMgIHwgQ29tcGFueSBVc2UgfCBSYXl0aGVvbiBUZWNobm9sb2dpZXMgfCBPdGhlciBJbmZvcm1hdGlvbiAoTm90IFJlcXVpcmluZyBhbiBFeHBvcnQgQ29udHJvbCBNYXJraW5nKSB8IE5vIHZpc3VhbCBtYXJraW5nIGFwcGxpZWQgYnkgdGhlIHRvb2wgfCBObyBUZWNoIERhdGE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+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C9zaXNsPjxVc2VyTmFtZT5BRFhVXEUyMTE2MTExMzwvVXNlck5hbWU+PERhdGVUaW1lPjgvMTcvMjAyMyAyOjI2OjI5IFBNPC9EYXRlVGltZT48TGFiZWxTdHJpbmc+RXhwb3J0IENvbnRyb2wgQ291bnRyeTogVVMgIHwgQ29tcGFueSBVc2UvSW50ZXJuYWwgVXNlIE9ubHkgfCBSVFggQ29ycG9yYXRpb24gKENvcnBvcmF0ZSkgfCBPdGhlciBJbmZvcm1hdGlvbiAoTm90IFJlcXVpcmluZyBhbiBFeHBvcnQgQ29udHJvbCBNYXJraW5nKSB8IE5vIHZpc3VhbCBtYXJraW5nIGFwcGxpZWQgYnkgdGhlIHRvb2w8L0xhYmVsU3RyaW5nPjwvaXRlbT48aXRlbT48c2lzbCBzaXNsVmVyc2lvbj0iMCIgcG9saWN5PSJjZGU1M2FjMS1iZjVmLTRhYWUtOWNmMS0wNzUwOWUyM2E0YjAiIG9yaWdpbj0idXNlclNlbGVjdGVkIj48ZWxlbWVudCB1aWQ9ImRlY2VjYmQ2LWRhM2ItNDZmZS04ZjAwLWY5ZDlkZWVhMmVlMSIgdmFsdWU9IiIgeG1sbnM9Imh0dHA6Ly93d3cuYm9sZG9uamFtZXMuY29tLzIwMDgvMDEvc2llL2ludGVybmFsL2xhYmVsIiAvPjxlbGVtZW50IHVpZD0iYmJhOTRjNjUtYWMzZC00ZjM0LWIyZTEtOGRlMTFlZjZmMDFjIiB2YWx1ZT0iIiB4bWxucz0iaHR0cDovL3d3dy5ib2xkb25qYW1lcy5jb20vMjAwOC8wMS9zaWUvaW50ZXJuYWwvbGFiZWwiIC8+PGVsZW1lbnQgdWlkPSJhMDZkYTRkYS1hMjYzLTQxMzYtYjRmZC1mMjhhMTdkMzAxODg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+PC9zaXNsPjxVc2VyTmFtZT5BRFhVXEUyMTE2MTExMzwvVXNlck5hbWU+PERhdGVUaW1lPjkvMy8yMDI0IDU6MDM6NTEgUE08L0RhdGVUaW1lPjxMYWJlbFN0cmluZz5FeHBvcnQgQ29udHJvbCBDb3VudHJ5OiBVUyAgfCBVbnJlc3RyaWN0ZWQgQ29udGVudCB8IFVzZSBQcmVleGlzdGluZyBNYXJraW5nIChub3QgYXBwbGllZCBieSB0aGlzIHRvb2wpIHwgT3RoZXIgSW5mb3JtYXRpb24gKE5vdCBSZXF1aXJpbmcgYW4gRXhwb3J0IENvbnRyb2wgTWFya2luZykgfCBObyB2aXN1YWwgbWFya2luZyBhcHBsaWVkIGJ5IHRoZSB0b29sPC9MYWJlbFN0cmluZz48L2l0ZW0+PC9sYWJlbEhpc3Rvcnk+</Value>
</WrappedLabelHistory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49450BF7B11147AA8C116BA14E6848" ma:contentTypeVersion="3" ma:contentTypeDescription="Create a new document." ma:contentTypeScope="" ma:versionID="2f526d967ba0e1a83719eb98f719f691">
  <xsd:schema xmlns:xsd="http://www.w3.org/2001/XMLSchema" xmlns:xs="http://www.w3.org/2001/XMLSchema" xmlns:p="http://schemas.microsoft.com/office/2006/metadata/properties" xmlns:ns2="1f014d26-b0c9-4719-9c4e-6e631f7a801d" targetNamespace="http://schemas.microsoft.com/office/2006/metadata/properties" ma:root="true" ma:fieldsID="ea5744fd6d356973943a54517c57327b" ns2:_="">
    <xsd:import namespace="1f014d26-b0c9-4719-9c4e-6e631f7a8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VIOL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14d26-b0c9-4719-9c4e-6e631f7a80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VIOLATION" ma:index="10" nillable="true" ma:displayName="VIOLATION" ma:internalName="VIOLA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85E5AD-1BCC-408B-B532-7B415316D2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E5F23F-329C-4DBF-9D60-45A5F548688A}">
  <ds:schemaRefs>
    <ds:schemaRef ds:uri="http://www.w3.org/XML/1998/namespace"/>
    <ds:schemaRef ds:uri="1f014d26-b0c9-4719-9c4e-6e631f7a801d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8DA458D-CDD2-4BA5-B288-097DC8FF2E9A}">
  <ds:schemaRefs>
    <ds:schemaRef ds:uri="http://www.w3.org/2001/XMLSchema"/>
    <ds:schemaRef ds:uri="http://www.boldonjames.com/2008/01/sie/internal/label"/>
  </ds:schemaRefs>
</ds:datastoreItem>
</file>

<file path=customXml/itemProps4.xml><?xml version="1.0" encoding="utf-8"?>
<ds:datastoreItem xmlns:ds="http://schemas.openxmlformats.org/officeDocument/2006/customXml" ds:itemID="{8D630305-F75A-481A-8171-4BB86BDF6291}">
  <ds:schemaRefs>
    <ds:schemaRef ds:uri="http://www.w3.org/2001/XMLSchema"/>
    <ds:schemaRef ds:uri="http://www.boldonjames.com/2016/02/Classifier/internal/wrappedLabelHistory"/>
  </ds:schemaRefs>
</ds:datastoreItem>
</file>

<file path=customXml/itemProps5.xml><?xml version="1.0" encoding="utf-8"?>
<ds:datastoreItem xmlns:ds="http://schemas.openxmlformats.org/officeDocument/2006/customXml" ds:itemID="{F768F78F-F636-41F0-9B4F-B3053C21A3B1}">
  <ds:schemaRefs>
    <ds:schemaRef ds:uri="1f014d26-b0c9-4719-9c4e-6e631f7a80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2223</Words>
  <Application>Microsoft Office PowerPoint</Application>
  <PresentationFormat>Widescreen</PresentationFormat>
  <Paragraphs>325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ＭＳ Ｐゴシック</vt:lpstr>
      <vt:lpstr>Arial</vt:lpstr>
      <vt:lpstr>Graphik Black</vt:lpstr>
      <vt:lpstr>Lato Regular</vt:lpstr>
      <vt:lpstr>Times New Roman</vt:lpstr>
      <vt:lpstr>Wingdings</vt:lpstr>
      <vt:lpstr>ES Covers - tagline</vt:lpstr>
      <vt:lpstr>ES Covers - no tagline</vt:lpstr>
      <vt:lpstr>ES Content - tagline</vt:lpstr>
      <vt:lpstr>ES Content - no tagline</vt:lpstr>
      <vt:lpstr>ES Section Breakers - tagline</vt:lpstr>
      <vt:lpstr>ES Section Breakers - no tagline</vt:lpstr>
      <vt:lpstr>MCP Healthcare  Tech Assessment</vt:lpstr>
      <vt:lpstr>PowerPoint Presentation</vt:lpstr>
      <vt:lpstr>Approach &amp; Background</vt:lpstr>
      <vt:lpstr>Objectives</vt:lpstr>
      <vt:lpstr>Background Knowledge &amp; Learning</vt:lpstr>
      <vt:lpstr>Objectives</vt:lpstr>
      <vt:lpstr>Understanding Claude’s Model Context Protocol (MCP)</vt:lpstr>
      <vt:lpstr>Salesforce Requirements</vt:lpstr>
      <vt:lpstr>Objectives</vt:lpstr>
      <vt:lpstr>Salesforce API Requirements &amp; Authentication</vt:lpstr>
      <vt:lpstr>Scope &amp; Requirements</vt:lpstr>
      <vt:lpstr>Objectives</vt:lpstr>
      <vt:lpstr>Consultant Mindset &amp; Healthcare Background</vt:lpstr>
      <vt:lpstr>User Personas</vt:lpstr>
      <vt:lpstr>Scope</vt:lpstr>
      <vt:lpstr>Scope</vt:lpstr>
      <vt:lpstr>Objectives &amp; Capabilities</vt:lpstr>
      <vt:lpstr>Objectives</vt:lpstr>
      <vt:lpstr>MCP Objectives &amp; Capabilities</vt:lpstr>
      <vt:lpstr>Implementation with Salesforce </vt:lpstr>
      <vt:lpstr>Objectives</vt:lpstr>
      <vt:lpstr>MCP Connection to Salesforce </vt:lpstr>
      <vt:lpstr>Capability 1 - Query Account and Contact Records  </vt:lpstr>
      <vt:lpstr>Capability 2 – Create and Update Cases </vt:lpstr>
      <vt:lpstr>Capability 3 – Query Opportunities </vt:lpstr>
      <vt:lpstr>Technical Decisions &amp;  Trade-offs</vt:lpstr>
      <vt:lpstr>Objectives</vt:lpstr>
      <vt:lpstr>Technical Decisions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rtnipcontrolcode:unrestricted|rtnipcontrolcodevm:preexistingipvm|rtnexportcontrolcountry:usa|rtnexportcontrolcode:otherinfo|rtnexportcontrolcodevm:nousecvm</dc:subject>
  <dc:creator>Cwichon, Michael (USA)</dc:creator>
  <cp:keywords>https:/corpid.rtx.com</cp:keywords>
  <dc:description>Sep. 2024</dc:description>
  <cp:lastModifiedBy>Fleury, Noelle</cp:lastModifiedBy>
  <cp:revision>4</cp:revision>
  <dcterms:created xsi:type="dcterms:W3CDTF">2025-02-24T22:59:48Z</dcterms:created>
  <dcterms:modified xsi:type="dcterms:W3CDTF">2026-02-27T19:50:10Z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ffc8a492-1fd8-4ff9-850a-0cbcd3da266b</vt:lpwstr>
  </property>
  <property fmtid="{D5CDD505-2E9C-101B-9397-08002B2CF9AE}" pid="3" name="bjSaver">
    <vt:lpwstr>A2AB0OuaTTiL2YVHw3qxYann2Jd9uCN6</vt:lpwstr>
  </property>
  <property fmtid="{D5CDD505-2E9C-101B-9397-08002B2CF9AE}" pid="4" name="bjClsUserRVM">
    <vt:lpwstr>[]</vt:lpwstr>
  </property>
  <property fmtid="{D5CDD505-2E9C-101B-9397-08002B2CF9AE}" pid="5" name="MSIP_Label_4447dd6a-a4a1-440b-a6a3-9124ef1ee017_Enabled">
    <vt:lpwstr>true</vt:lpwstr>
  </property>
  <property fmtid="{D5CDD505-2E9C-101B-9397-08002B2CF9AE}" pid="6" name="MSIP_Label_4447dd6a-a4a1-440b-a6a3-9124ef1ee017_SetDate">
    <vt:lpwstr>2022-12-09T16:32:43Z</vt:lpwstr>
  </property>
  <property fmtid="{D5CDD505-2E9C-101B-9397-08002B2CF9AE}" pid="7" name="MSIP_Label_4447dd6a-a4a1-440b-a6a3-9124ef1ee017_Method">
    <vt:lpwstr>Privileged</vt:lpwstr>
  </property>
  <property fmtid="{D5CDD505-2E9C-101B-9397-08002B2CF9AE}" pid="8" name="MSIP_Label_4447dd6a-a4a1-440b-a6a3-9124ef1ee017_Name">
    <vt:lpwstr>NO TECH DATA</vt:lpwstr>
  </property>
  <property fmtid="{D5CDD505-2E9C-101B-9397-08002B2CF9AE}" pid="9" name="MSIP_Label_4447dd6a-a4a1-440b-a6a3-9124ef1ee017_SiteId">
    <vt:lpwstr>7a18110d-ef9b-4274-acef-e62ab0fe28ed</vt:lpwstr>
  </property>
  <property fmtid="{D5CDD505-2E9C-101B-9397-08002B2CF9AE}" pid="10" name="MSIP_Label_4447dd6a-a4a1-440b-a6a3-9124ef1ee017_ActionId">
    <vt:lpwstr>9a5bf9cd-cf11-4485-9abb-891aabd778e5</vt:lpwstr>
  </property>
  <property fmtid="{D5CDD505-2E9C-101B-9397-08002B2CF9AE}" pid="11" name="MSIP_Label_4447dd6a-a4a1-440b-a6a3-9124ef1ee017_ContentBits">
    <vt:lpwstr>0</vt:lpwstr>
  </property>
  <property fmtid="{D5CDD505-2E9C-101B-9397-08002B2CF9AE}" pid="12" name="ContentTypeId">
    <vt:lpwstr>0x010100FA49450BF7B11147AA8C116BA14E6848</vt:lpwstr>
  </property>
  <property fmtid="{D5CDD505-2E9C-101B-9397-08002B2CF9AE}" pid="13" name="bjDocumentSecurityLabel">
    <vt:lpwstr>Export Control Country: US  | Unrestricted Content | Use Preexisting Marking (not applied by this tool) | Other Information (Not Requiring an Export Control Marking) | No visual marking applied by the tool</vt:lpwstr>
  </property>
  <property fmtid="{D5CDD505-2E9C-101B-9397-08002B2CF9AE}" pid="14" name="bjLabelHistoryID">
    <vt:lpwstr>{8D630305-F75A-481A-8171-4BB86BDF6291}</vt:lpwstr>
  </property>
  <property fmtid="{D5CDD505-2E9C-101B-9397-08002B2CF9AE}" pid="15" name="rtnipcontrolcode">
    <vt:lpwstr>unrestricted</vt:lpwstr>
  </property>
  <property fmtid="{D5CDD505-2E9C-101B-9397-08002B2CF9AE}" pid="16" name="rtnipcontrolcodevm">
    <vt:lpwstr>preexistingipvm</vt:lpwstr>
  </property>
  <property fmtid="{D5CDD505-2E9C-101B-9397-08002B2CF9AE}" pid="17" name="rtnexportcontrolcountry">
    <vt:lpwstr>usa</vt:lpwstr>
  </property>
  <property fmtid="{D5CDD505-2E9C-101B-9397-08002B2CF9AE}" pid="18" name="rtnexportcontrolcode">
    <vt:lpwstr>otherinfo</vt:lpwstr>
  </property>
  <property fmtid="{D5CDD505-2E9C-101B-9397-08002B2CF9AE}" pid="19" name="rtnexportcontrolcodevm">
    <vt:lpwstr>nousecvm</vt:lpwstr>
  </property>
  <property fmtid="{D5CDD505-2E9C-101B-9397-08002B2CF9AE}" pid="20" name="bjLabelRefreshRequired">
    <vt:lpwstr>FileClassifier</vt:lpwstr>
  </property>
  <property fmtid="{D5CDD505-2E9C-101B-9397-08002B2CF9AE}" pid="21" name="bjDocumentLabelXML">
    <vt:lpwstr>&lt;?xml version="1.0" encoding="us-ascii"?&gt;&lt;sisl xmlns:xsi="http://www.w3.org/2001/XMLSchema-instance" xmlns:xsd="http://www.w3.org/2001/XMLSchema" sislVersion="0" policy="cde53ac1-bf5f-4aae-9cf1-07509e23a4b0" origin="userSelected" xmlns="http://www.boldonj</vt:lpwstr>
  </property>
  <property fmtid="{D5CDD505-2E9C-101B-9397-08002B2CF9AE}" pid="22" name="bjDocumentLabelXML-0">
    <vt:lpwstr>ames.com/2008/01/sie/internal/label"&gt;&lt;element uid="dececbd6-da3b-46fe-8f00-f9d9deea2ee1" value="" /&gt;&lt;element uid="bba94c65-ac3d-4f34-b2e1-8de11ef6f01c" value="" /&gt;&lt;element uid="a06da4da-a263-4136-b4fd-f28a17d30188" value="" /&gt;&lt;element uid="bc2b7c01-6db1-4</vt:lpwstr>
  </property>
  <property fmtid="{D5CDD505-2E9C-101B-9397-08002B2CF9AE}" pid="23" name="bjDocumentLabelXML-1">
    <vt:lpwstr>e7d-88d1-fc61674f86fd" value="" /&gt;&lt;element uid="92e993a3-af32-4afb-aa19-3a49cdb82c7a" value="" /&gt;&lt;/sisl&gt;</vt:lpwstr>
  </property>
</Properties>
</file>